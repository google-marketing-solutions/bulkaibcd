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2100"/>
  <p:notesSz cx="6858000" cy="9144000"/>
  <p:embeddedFontLst>
    <p:embeddedFont>
      <p:font typeface="Google Sans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GoogleSans-bold.fntdata"/><Relationship Id="rId14" Type="http://schemas.openxmlformats.org/officeDocument/2006/relationships/font" Target="fonts/GoogleSans-regular.fntdata"/><Relationship Id="rId17" Type="http://schemas.openxmlformats.org/officeDocument/2006/relationships/font" Target="fonts/GoogleSans-boldItalic.fntdata"/><Relationship Id="rId16" Type="http://schemas.openxmlformats.org/officeDocument/2006/relationships/font" Target="fonts/Google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4" name="Google Shape;25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jpg"/><Relationship Id="rId5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jpg"/><Relationship Id="rId5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 rot="4500000">
            <a:off x="5400000" y="-3600000"/>
            <a:ext cx="9000000" cy="10800000"/>
          </a:xfrm>
          <a:prstGeom prst="pie">
            <a:avLst>
              <a:gd fmla="val -1687500000" name="adj1"/>
              <a:gd fmla="val 16200000" name="adj2"/>
            </a:avLst>
          </a:prstGeom>
          <a:solidFill>
            <a:srgbClr val="4285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5" name="Google Shape;8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0000" y="720000"/>
            <a:ext cx="2160000" cy="5506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0000" y="6120000"/>
            <a:ext cx="1080000" cy="36529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20000" y="2160000"/>
            <a:ext cx="6480000" cy="14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ABCD</a:t>
            </a:r>
            <a:br>
              <a:rPr b="1" i="0" lang="en-US" sz="4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r>
              <a:rPr b="1" i="0" lang="en-US" sz="4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Evaluation Report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20000" y="3960000"/>
            <a:ext cx="36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Powered by Bulk AiBCD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10800000" y="630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720000" y="540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ABCD Evaluation Report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720000" y="1080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Report Details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720000" y="252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REQUESTED FOR: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720000" y="280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BRAND_NAME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720000" y="360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# OF CREATIVES TESTED: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720000" y="388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VIDEO_COUNT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6120000" y="252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COMPLETED 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120000" y="280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COMPLETION_DATE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120000" y="360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MARKETING OBJECTIVE: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6120000" y="388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MARKETING_OBJECTIVE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72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&amp; Confidential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7200000" y="630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Creative Works.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160000" y="630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720000" y="540000"/>
            <a:ext cx="72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Results Summary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ROW_1" id="112" name="Google Shape;112;p15"/>
          <p:cNvSpPr/>
          <p:nvPr/>
        </p:nvSpPr>
        <p:spPr>
          <a:xfrm>
            <a:off x="720000" y="1440000"/>
            <a:ext cx="10800000" cy="1188000"/>
          </a:xfrm>
          <a:prstGeom prst="rect">
            <a:avLst/>
          </a:prstGeom>
          <a:solidFill>
            <a:srgbClr val="FAFAFA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HUMBNAIL_1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999" y="1527750"/>
            <a:ext cx="1800000" cy="1012500"/>
          </a:xfrm>
          <a:prstGeom prst="rect">
            <a:avLst/>
          </a:prstGeom>
          <a:noFill/>
          <a:ln>
            <a:noFill/>
          </a:ln>
        </p:spPr>
      </p:pic>
      <p:sp>
        <p:nvSpPr>
          <p:cNvPr descr="VIDEO_TITLE_1" id="114" name="Google Shape;114;p15"/>
          <p:cNvSpPr txBox="1"/>
          <p:nvPr/>
        </p:nvSpPr>
        <p:spPr>
          <a:xfrm>
            <a:off x="2934000" y="1910850"/>
            <a:ext cx="54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VIDEO_TITLE_1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ADHERENCE_CATEGORY_1" id="115" name="Google Shape;115;p15"/>
          <p:cNvSpPr/>
          <p:nvPr/>
        </p:nvSpPr>
        <p:spPr>
          <a:xfrm>
            <a:off x="8640000" y="1818000"/>
            <a:ext cx="1980000" cy="432000"/>
          </a:xfrm>
          <a:prstGeom prst="roundRect">
            <a:avLst>
              <a:gd fmla="val 15000" name="adj"/>
            </a:avLst>
          </a:prstGeom>
          <a:solidFill>
            <a:srgbClr val="00B0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ADHERENCE_CATEGORY_1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ROW_2" id="116" name="Google Shape;116;p15"/>
          <p:cNvSpPr/>
          <p:nvPr/>
        </p:nvSpPr>
        <p:spPr>
          <a:xfrm>
            <a:off x="720000" y="2808000"/>
            <a:ext cx="10800000" cy="1188000"/>
          </a:xfrm>
          <a:prstGeom prst="rect">
            <a:avLst/>
          </a:prstGeom>
          <a:solidFill>
            <a:srgbClr val="FAFAFA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HUMBNAIL_2" id="117" name="Google Shape;11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7999" y="2895750"/>
            <a:ext cx="1800000" cy="1012500"/>
          </a:xfrm>
          <a:prstGeom prst="rect">
            <a:avLst/>
          </a:prstGeom>
          <a:noFill/>
          <a:ln>
            <a:noFill/>
          </a:ln>
        </p:spPr>
      </p:pic>
      <p:sp>
        <p:nvSpPr>
          <p:cNvPr descr="VIDEO_TITLE_2" id="118" name="Google Shape;118;p15"/>
          <p:cNvSpPr txBox="1"/>
          <p:nvPr/>
        </p:nvSpPr>
        <p:spPr>
          <a:xfrm>
            <a:off x="2934000" y="3305850"/>
            <a:ext cx="54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VIDEO_TITLE_2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descr="ADHERENCE_CATEGORY_2" id="119" name="Google Shape;119;p15"/>
          <p:cNvSpPr/>
          <p:nvPr/>
        </p:nvSpPr>
        <p:spPr>
          <a:xfrm>
            <a:off x="8640000" y="3186000"/>
            <a:ext cx="1980000" cy="432000"/>
          </a:xfrm>
          <a:prstGeom prst="roundRect">
            <a:avLst>
              <a:gd fmla="val 15000" name="adj"/>
            </a:avLst>
          </a:prstGeom>
          <a:solidFill>
            <a:srgbClr val="FFC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ADHERENCE_CATEGORY_2</a:t>
            </a:r>
            <a:endParaRPr b="1" i="0" sz="1000" u="none" cap="none" strike="noStrike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descr="ROW_3" id="120" name="Google Shape;120;p15"/>
          <p:cNvSpPr/>
          <p:nvPr/>
        </p:nvSpPr>
        <p:spPr>
          <a:xfrm>
            <a:off x="720000" y="4176000"/>
            <a:ext cx="10800000" cy="1188000"/>
          </a:xfrm>
          <a:prstGeom prst="rect">
            <a:avLst/>
          </a:prstGeom>
          <a:solidFill>
            <a:srgbClr val="FAFAFA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HUMBNAIL_3" id="121" name="Google Shape;12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7999" y="4246775"/>
            <a:ext cx="1800000" cy="1012500"/>
          </a:xfrm>
          <a:prstGeom prst="rect">
            <a:avLst/>
          </a:prstGeom>
          <a:noFill/>
          <a:ln>
            <a:noFill/>
          </a:ln>
        </p:spPr>
      </p:pic>
      <p:sp>
        <p:nvSpPr>
          <p:cNvPr descr="VIDEO_TITLE_3" id="122" name="Google Shape;122;p15"/>
          <p:cNvSpPr txBox="1"/>
          <p:nvPr/>
        </p:nvSpPr>
        <p:spPr>
          <a:xfrm>
            <a:off x="2934000" y="4700850"/>
            <a:ext cx="54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VIDEO_TITLE_3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ADHERENCE_CATEGORY_3" id="123" name="Google Shape;123;p15"/>
          <p:cNvSpPr/>
          <p:nvPr/>
        </p:nvSpPr>
        <p:spPr>
          <a:xfrm>
            <a:off x="8640000" y="4554000"/>
            <a:ext cx="1980000" cy="432000"/>
          </a:xfrm>
          <a:prstGeom prst="roundRect">
            <a:avLst>
              <a:gd fmla="val 15000" name="adj"/>
            </a:avLst>
          </a:prstGeom>
          <a:solidFill>
            <a:srgbClr val="FFC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ADHERENCE_CATEGORY_3</a:t>
            </a:r>
            <a:endParaRPr b="1" i="0" sz="1000" u="none" cap="none" strike="noStrike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6"/>
          <p:cNvSpPr txBox="1"/>
          <p:nvPr/>
        </p:nvSpPr>
        <p:spPr>
          <a:xfrm>
            <a:off x="720000" y="180000"/>
            <a:ext cx="54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Detailed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4680000" y="360000"/>
            <a:ext cx="648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Evaluated Guidelines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6"/>
          <p:cNvSpPr txBox="1"/>
          <p:nvPr/>
        </p:nvSpPr>
        <p:spPr>
          <a:xfrm>
            <a:off x="720000" y="792000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Asset ASSET_NUMBER of VIDEO_COUNT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31" name="Google Shape;13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0" y="288000"/>
            <a:ext cx="1800002" cy="45891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UMBNAIL" id="132" name="Google Shape;13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0000" y="1620000"/>
            <a:ext cx="3600000" cy="202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20000" y="4185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NAME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6"/>
          <p:cNvSpPr txBox="1"/>
          <p:nvPr/>
        </p:nvSpPr>
        <p:spPr>
          <a:xfrm>
            <a:off x="720000" y="4365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ASSET_NAME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720000" y="479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LINK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ASSET_LINK_PLACEHOLDER" id="136" name="Google Shape;136;p16"/>
          <p:cNvSpPr txBox="1"/>
          <p:nvPr/>
        </p:nvSpPr>
        <p:spPr>
          <a:xfrm>
            <a:off x="720000" y="4977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ASSET_LINK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720000" y="551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720000" y="5697000"/>
            <a:ext cx="367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ADHERENCE_PERC Adherence (ADHERENCE_X/ADHERENCE_Y)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ADHERENCE_CATEGORY" id="139" name="Google Shape;139;p16"/>
          <p:cNvSpPr/>
          <p:nvPr/>
        </p:nvSpPr>
        <p:spPr>
          <a:xfrm>
            <a:off x="2592000" y="5733000"/>
            <a:ext cx="1440000" cy="360000"/>
          </a:xfrm>
          <a:prstGeom prst="roundRect">
            <a:avLst>
              <a:gd fmla="val 30000" name="adj"/>
            </a:avLst>
          </a:prstGeom>
          <a:solidFill>
            <a:srgbClr val="00B0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40" name="Google Shape;14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0000" y="6300000"/>
            <a:ext cx="540000" cy="18264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1368000" y="6300000"/>
            <a:ext cx="28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&amp; Confidential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4680000" y="1537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Tight Framing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4680000" y="1690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Human Voice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4680000" y="1842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Direct to Camera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4680000" y="1995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Supers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6" name="Google Shape;146;p16"/>
          <p:cNvSpPr txBox="1"/>
          <p:nvPr/>
        </p:nvSpPr>
        <p:spPr>
          <a:xfrm>
            <a:off x="4680000" y="2147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Close-ups (Product)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4680000" y="2299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Extreme close up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8" name="Google Shape;148;p16"/>
          <p:cNvSpPr txBox="1"/>
          <p:nvPr/>
        </p:nvSpPr>
        <p:spPr>
          <a:xfrm>
            <a:off x="4680000" y="2452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People Using Product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4680000" y="2604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Casual Language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4680000" y="2757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Humor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4680000" y="2909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Character-Driven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2" name="Google Shape;152;p16"/>
          <p:cNvSpPr txBox="1"/>
          <p:nvPr/>
        </p:nvSpPr>
        <p:spPr>
          <a:xfrm>
            <a:off x="4680000" y="3061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Call to Action (Audio)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4680000" y="3214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Special Offer (Speech)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/>
        </p:nvSpPr>
        <p:spPr>
          <a:xfrm>
            <a:off x="720000" y="180000"/>
            <a:ext cx="54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Detailed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4680000" y="360000"/>
            <a:ext cx="648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Evaluated Guidelines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720000" y="792000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Asset ASSET_NUMBER of VIDEO_COUNT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1" name="Google Shape;16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0" y="288000"/>
            <a:ext cx="1800003" cy="45891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UMBNAIL" id="162" name="Google Shape;16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0000" y="1620000"/>
            <a:ext cx="3600000" cy="202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720000" y="4185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NAME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720000" y="4365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ASSET_NAME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720000" y="479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LINK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ASSET_LINK_PLACEHOLDER" id="166" name="Google Shape;166;p17"/>
          <p:cNvSpPr txBox="1"/>
          <p:nvPr/>
        </p:nvSpPr>
        <p:spPr>
          <a:xfrm>
            <a:off x="720000" y="4977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ASSET_LINK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7"/>
          <p:cNvSpPr txBox="1"/>
          <p:nvPr/>
        </p:nvSpPr>
        <p:spPr>
          <a:xfrm>
            <a:off x="720000" y="551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7"/>
          <p:cNvSpPr txBox="1"/>
          <p:nvPr/>
        </p:nvSpPr>
        <p:spPr>
          <a:xfrm>
            <a:off x="720000" y="5697000"/>
            <a:ext cx="367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ADHERENCE_PERC Adherence (ADHERENCE_X/ADHERENCE_Y)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ADHERENCE_CATEGORY" id="169" name="Google Shape;169;p17"/>
          <p:cNvSpPr/>
          <p:nvPr/>
        </p:nvSpPr>
        <p:spPr>
          <a:xfrm>
            <a:off x="2592000" y="5733000"/>
            <a:ext cx="1440000" cy="360000"/>
          </a:xfrm>
          <a:prstGeom prst="roundRect">
            <a:avLst>
              <a:gd fmla="val 30000" name="adj"/>
            </a:avLst>
          </a:prstGeom>
          <a:solidFill>
            <a:srgbClr val="00B0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0" name="Google Shape;17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0000" y="6300000"/>
            <a:ext cx="540000" cy="1826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7"/>
          <p:cNvSpPr txBox="1"/>
          <p:nvPr/>
        </p:nvSpPr>
        <p:spPr>
          <a:xfrm>
            <a:off x="1368000" y="6300000"/>
            <a:ext cx="28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&amp; Confidential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4680000" y="1537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Starting Strong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7271999" y="1540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(3+ Times)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9863995" y="1690306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Product Context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5" name="Google Shape;175;p17"/>
          <p:cNvSpPr txBox="1"/>
          <p:nvPr/>
        </p:nvSpPr>
        <p:spPr>
          <a:xfrm>
            <a:off x="9863995" y="1842706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Clear Messaging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9863995" y="19951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Single Message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9863995" y="21475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Casual Language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9863995" y="22999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Expression of Benefit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9863995" y="24523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Competitive Claim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9863995" y="26047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(C) Visualization of Benefit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9863995" y="27571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Emotions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9863995" y="29095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Humor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9863995" y="3061906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Delight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4" name="Google Shape;184;p17"/>
          <p:cNvSpPr txBox="1"/>
          <p:nvPr/>
        </p:nvSpPr>
        <p:spPr>
          <a:xfrm>
            <a:off x="9863995" y="33667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Call-to-Action (Text)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9863995" y="35191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Call-to-Action (Speech)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6" name="Google Shape;186;p17"/>
          <p:cNvSpPr txBox="1"/>
          <p:nvPr/>
        </p:nvSpPr>
        <p:spPr>
          <a:xfrm>
            <a:off x="9863995" y="36715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Relevant Call-to-Action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9863995" y="3823907"/>
            <a:ext cx="2340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Purchase Incentive (Limited Time/Quantities)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863995" y="41287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Special Offer (Text)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9863995" y="42811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Special Offer (Speech)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0" name="Google Shape;190;p17"/>
          <p:cNvSpPr txBox="1"/>
          <p:nvPr/>
        </p:nvSpPr>
        <p:spPr>
          <a:xfrm>
            <a:off x="9863995" y="44335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Price (Text)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1" name="Google Shape;191;p17"/>
          <p:cNvSpPr txBox="1"/>
          <p:nvPr/>
        </p:nvSpPr>
        <p:spPr>
          <a:xfrm>
            <a:off x="9863995" y="45859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Price (Speech)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9863995" y="47383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Power of Free (Text)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9863995" y="48907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Power of Free (Speech)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9863995" y="50431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Path to Purchase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5" name="Google Shape;195;p17"/>
          <p:cNvSpPr txBox="1"/>
          <p:nvPr/>
        </p:nvSpPr>
        <p:spPr>
          <a:xfrm>
            <a:off x="9863995" y="51955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Search Bar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6" name="Google Shape;196;p17"/>
          <p:cNvSpPr txBox="1"/>
          <p:nvPr/>
        </p:nvSpPr>
        <p:spPr>
          <a:xfrm>
            <a:off x="7271999" y="16927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Logo (Large)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7271999" y="18451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Mention (Speech)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8" name="Google Shape;198;p17"/>
          <p:cNvSpPr txBox="1"/>
          <p:nvPr/>
        </p:nvSpPr>
        <p:spPr>
          <a:xfrm>
            <a:off x="7271999" y="19975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(See &amp; Say)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7271999" y="2302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(First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0" name="Google Shape;200;p17"/>
          <p:cNvSpPr txBox="1"/>
          <p:nvPr/>
        </p:nvSpPr>
        <p:spPr>
          <a:xfrm>
            <a:off x="7271999" y="2454734"/>
            <a:ext cx="23400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(See &amp; Say) (First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1" name="Google Shape;201;p17"/>
          <p:cNvSpPr txBox="1"/>
          <p:nvPr/>
        </p:nvSpPr>
        <p:spPr>
          <a:xfrm>
            <a:off x="7271999" y="27595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Mnemonic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2" name="Google Shape;202;p17"/>
          <p:cNvSpPr txBox="1"/>
          <p:nvPr/>
        </p:nvSpPr>
        <p:spPr>
          <a:xfrm>
            <a:off x="7271999" y="29119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Multiple Brand Elements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3" name="Google Shape;203;p17"/>
          <p:cNvSpPr txBox="1"/>
          <p:nvPr/>
        </p:nvSpPr>
        <p:spPr>
          <a:xfrm>
            <a:off x="7271999" y="3064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Visual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7271999" y="32167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Visual (First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7271999" y="33691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Visual (Last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6" name="Google Shape;206;p17"/>
          <p:cNvSpPr txBox="1"/>
          <p:nvPr/>
        </p:nvSpPr>
        <p:spPr>
          <a:xfrm>
            <a:off x="7271999" y="35215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Visual (Close-up)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7" name="Google Shape;207;p17"/>
          <p:cNvSpPr txBox="1"/>
          <p:nvPr/>
        </p:nvSpPr>
        <p:spPr>
          <a:xfrm>
            <a:off x="7271999" y="36739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Visual (Extreme Close-up)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8" name="Google Shape;208;p17"/>
          <p:cNvSpPr txBox="1"/>
          <p:nvPr/>
        </p:nvSpPr>
        <p:spPr>
          <a:xfrm>
            <a:off x="7271999" y="3826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Mention (Speech or Text)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9" name="Google Shape;209;p17"/>
          <p:cNvSpPr txBox="1"/>
          <p:nvPr/>
        </p:nvSpPr>
        <p:spPr>
          <a:xfrm>
            <a:off x="7271999" y="39857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Mention (Speech)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0" name="Google Shape;210;p17"/>
          <p:cNvSpPr txBox="1"/>
          <p:nvPr/>
        </p:nvSpPr>
        <p:spPr>
          <a:xfrm>
            <a:off x="7271999" y="41381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Mention (Speech) (First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1" name="Google Shape;211;p17"/>
          <p:cNvSpPr txBox="1"/>
          <p:nvPr/>
        </p:nvSpPr>
        <p:spPr>
          <a:xfrm>
            <a:off x="7271999" y="42905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Mention (Speech) (Last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7271999" y="44429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Mention (Text)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7271999" y="45953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Focus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4" name="Google Shape;214;p17"/>
          <p:cNvSpPr txBox="1"/>
          <p:nvPr/>
        </p:nvSpPr>
        <p:spPr>
          <a:xfrm>
            <a:off x="7271995" y="50525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Presence of People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5" name="Google Shape;215;p17"/>
          <p:cNvSpPr txBox="1"/>
          <p:nvPr/>
        </p:nvSpPr>
        <p:spPr>
          <a:xfrm>
            <a:off x="7271995" y="52049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Presence of People (First 5s)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6" name="Google Shape;216;p17"/>
          <p:cNvSpPr txBox="1"/>
          <p:nvPr/>
        </p:nvSpPr>
        <p:spPr>
          <a:xfrm>
            <a:off x="7271995" y="53573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Presence of People (Close-up)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7" name="Google Shape;217;p17"/>
          <p:cNvSpPr txBox="1"/>
          <p:nvPr/>
        </p:nvSpPr>
        <p:spPr>
          <a:xfrm>
            <a:off x="7271995" y="55097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Visible Face (First 5s)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8" name="Google Shape;218;p17"/>
          <p:cNvSpPr txBox="1"/>
          <p:nvPr/>
        </p:nvSpPr>
        <p:spPr>
          <a:xfrm>
            <a:off x="7271995" y="56621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Product Interaction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4680000" y="1690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Quick Pacing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4680000" y="1842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Quick Pacing (First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4680000" y="1995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Tight Framing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2" name="Google Shape;222;p17"/>
          <p:cNvSpPr txBox="1"/>
          <p:nvPr/>
        </p:nvSpPr>
        <p:spPr>
          <a:xfrm>
            <a:off x="4680000" y="2147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Tight Framing (First 5s)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3" name="Google Shape;223;p17"/>
          <p:cNvSpPr txBox="1"/>
          <p:nvPr/>
        </p:nvSpPr>
        <p:spPr>
          <a:xfrm>
            <a:off x="4680000" y="2299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Sound On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4" name="Google Shape;224;p17"/>
          <p:cNvSpPr txBox="1"/>
          <p:nvPr/>
        </p:nvSpPr>
        <p:spPr>
          <a:xfrm>
            <a:off x="4680000" y="2452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Music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5" name="Google Shape;225;p17"/>
          <p:cNvSpPr txBox="1"/>
          <p:nvPr/>
        </p:nvSpPr>
        <p:spPr>
          <a:xfrm>
            <a:off x="4680000" y="2604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Sound Effects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6" name="Google Shape;226;p17"/>
          <p:cNvSpPr txBox="1"/>
          <p:nvPr/>
        </p:nvSpPr>
        <p:spPr>
          <a:xfrm>
            <a:off x="4680000" y="2757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Voice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7" name="Google Shape;227;p17"/>
          <p:cNvSpPr txBox="1"/>
          <p:nvPr/>
        </p:nvSpPr>
        <p:spPr>
          <a:xfrm>
            <a:off x="4680000" y="2909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Voice-Over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8" name="Google Shape;228;p17"/>
          <p:cNvSpPr txBox="1"/>
          <p:nvPr/>
        </p:nvSpPr>
        <p:spPr>
          <a:xfrm>
            <a:off x="4680000" y="3061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Dialogue (1-Person)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9" name="Google Shape;229;p17"/>
          <p:cNvSpPr txBox="1"/>
          <p:nvPr/>
        </p:nvSpPr>
        <p:spPr>
          <a:xfrm>
            <a:off x="4680000" y="3214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Dialogue (2+ People)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0" name="Google Shape;230;p17"/>
          <p:cNvSpPr txBox="1"/>
          <p:nvPr/>
        </p:nvSpPr>
        <p:spPr>
          <a:xfrm>
            <a:off x="4680000" y="3366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Direct to Camera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1" name="Google Shape;231;p17"/>
          <p:cNvSpPr txBox="1"/>
          <p:nvPr/>
        </p:nvSpPr>
        <p:spPr>
          <a:xfrm>
            <a:off x="4680000" y="3519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Supers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2" name="Google Shape;232;p17"/>
          <p:cNvSpPr txBox="1"/>
          <p:nvPr/>
        </p:nvSpPr>
        <p:spPr>
          <a:xfrm>
            <a:off x="4680000" y="3671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Supers with Audio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3" name="Google Shape;233;p17"/>
          <p:cNvSpPr txBox="1"/>
          <p:nvPr/>
        </p:nvSpPr>
        <p:spPr>
          <a:xfrm>
            <a:off x="4680000" y="3823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Supers with Audio (Augmented)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4" name="Google Shape;234;p17"/>
          <p:cNvSpPr txBox="1"/>
          <p:nvPr/>
        </p:nvSpPr>
        <p:spPr>
          <a:xfrm>
            <a:off x="4680000" y="3976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Supers with Audio (See &amp; Say)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5" name="Google Shape;235;p17"/>
          <p:cNvSpPr txBox="1"/>
          <p:nvPr/>
        </p:nvSpPr>
        <p:spPr>
          <a:xfrm>
            <a:off x="4680000" y="4128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Large Supers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6" name="Google Shape;236;p17"/>
          <p:cNvSpPr txBox="1"/>
          <p:nvPr/>
        </p:nvSpPr>
        <p:spPr>
          <a:xfrm>
            <a:off x="4680000" y="4281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Bright Visuals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4680000" y="4433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High Contrast Visuals</a:t>
            </a:r>
            <a:endParaRPr b="0" i="0" sz="900" u="none" cap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8" name="Google Shape;238;p17"/>
          <p:cNvSpPr txBox="1"/>
          <p:nvPr/>
        </p:nvSpPr>
        <p:spPr>
          <a:xfrm>
            <a:off x="4680004" y="50431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9" name="Google Shape;239;p17"/>
          <p:cNvSpPr txBox="1"/>
          <p:nvPr/>
        </p:nvSpPr>
        <p:spPr>
          <a:xfrm>
            <a:off x="4680004" y="51955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(First 5s)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0" name="Google Shape;240;p17"/>
          <p:cNvSpPr txBox="1"/>
          <p:nvPr/>
        </p:nvSpPr>
        <p:spPr>
          <a:xfrm>
            <a:off x="4680004" y="53479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(Last 5s)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1" name="Google Shape;241;p17"/>
          <p:cNvSpPr txBox="1"/>
          <p:nvPr/>
        </p:nvSpPr>
        <p:spPr>
          <a:xfrm>
            <a:off x="4680004" y="55003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(Overlaid)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2" name="Google Shape;242;p17"/>
          <p:cNvSpPr txBox="1"/>
          <p:nvPr/>
        </p:nvSpPr>
        <p:spPr>
          <a:xfrm>
            <a:off x="4680004" y="56527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Visual (In-situation)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3" name="Google Shape;243;p17"/>
          <p:cNvSpPr txBox="1"/>
          <p:nvPr/>
        </p:nvSpPr>
        <p:spPr>
          <a:xfrm>
            <a:off x="4680004" y="45859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strike="noStrike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Shorts Production Style</a:t>
            </a:r>
            <a:endParaRPr b="0" i="0" sz="900" u="none" strike="noStrike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4" name="Google Shape;244;p17"/>
          <p:cNvSpPr txBox="1"/>
          <p:nvPr/>
        </p:nvSpPr>
        <p:spPr>
          <a:xfrm>
            <a:off x="4680004" y="47383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Short Form Video Adaptation_high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5" name="Google Shape;245;p17"/>
          <p:cNvSpPr txBox="1"/>
          <p:nvPr/>
        </p:nvSpPr>
        <p:spPr>
          <a:xfrm>
            <a:off x="7271995" y="58145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(C) Emoji Usage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6" name="Google Shape;246;p17"/>
          <p:cNvSpPr txBox="1"/>
          <p:nvPr/>
        </p:nvSpPr>
        <p:spPr>
          <a:xfrm>
            <a:off x="9863995" y="15379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(C) Direct to Camera Character Talk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7" name="Google Shape;247;p17"/>
          <p:cNvSpPr txBox="1"/>
          <p:nvPr/>
        </p:nvSpPr>
        <p:spPr>
          <a:xfrm>
            <a:off x="7271995" y="47477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Secondary Element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8" name="Google Shape;248;p17"/>
          <p:cNvSpPr txBox="1"/>
          <p:nvPr/>
        </p:nvSpPr>
        <p:spPr>
          <a:xfrm>
            <a:off x="7271995" y="4900184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Secondary Product Context</a:t>
            </a:r>
            <a:endParaRPr b="0" i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9" name="Google Shape;249;p17"/>
          <p:cNvSpPr txBox="1"/>
          <p:nvPr/>
        </p:nvSpPr>
        <p:spPr>
          <a:xfrm>
            <a:off x="9863995" y="32143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(C) Uses Influencer/Creator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0" name="Google Shape;250;p17"/>
          <p:cNvSpPr txBox="1"/>
          <p:nvPr/>
        </p:nvSpPr>
        <p:spPr>
          <a:xfrm>
            <a:off x="4680004" y="4890707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Vertical Format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51" name="Google Shape;251;p17"/>
          <p:cNvSpPr txBox="1"/>
          <p:nvPr/>
        </p:nvSpPr>
        <p:spPr>
          <a:xfrm>
            <a:off x="7271995" y="2149935"/>
            <a:ext cx="2340000" cy="23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(Last 5s)</a:t>
            </a:r>
            <a:endParaRPr b="0"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8"/>
          <p:cNvSpPr txBox="1"/>
          <p:nvPr/>
        </p:nvSpPr>
        <p:spPr>
          <a:xfrm>
            <a:off x="540000" y="360000"/>
            <a:ext cx="72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Missing Features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8"/>
          <p:cNvSpPr txBox="1"/>
          <p:nvPr/>
        </p:nvSpPr>
        <p:spPr>
          <a:xfrm>
            <a:off x="540000" y="900000"/>
            <a:ext cx="1080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Features That Should Be Present But Weren't Detected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8"/>
          <p:cNvSpPr txBox="1"/>
          <p:nvPr/>
        </p:nvSpPr>
        <p:spPr>
          <a:xfrm>
            <a:off x="540000" y="1260000"/>
            <a:ext cx="1080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Asset ASSET_NUMBER of VIDEO_COUNT: ASSET_NAME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8"/>
          <p:cNvSpPr txBox="1"/>
          <p:nvPr/>
        </p:nvSpPr>
        <p:spPr>
          <a:xfrm>
            <a:off x="540000" y="1800000"/>
            <a:ext cx="10800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9AB00"/>
                </a:solidFill>
                <a:latin typeface="Google Sans"/>
                <a:ea typeface="Google Sans"/>
                <a:cs typeface="Google Sans"/>
                <a:sym typeface="Google Sans"/>
              </a:rPr>
              <a:t>⚠️  </a:t>
            </a:r>
            <a:r>
              <a:rPr b="1" i="0" lang="en-US" sz="1100" u="none" cap="none" strike="noStrike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Total Missing Features Found MISSING_FEATURES_COUNT</a:t>
            </a:r>
            <a:br>
              <a:rPr b="1" i="0" lang="en-US" sz="1100" u="none" cap="none" strike="noStrike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r>
              <a:rPr b="0" i="0" lang="en-US" sz="11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Objective: MARKETING_OBJECTIVE | Score: ADHERENCE_PERC | Status: ADHERENCE_CATEGORY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MISSING_FEATURE_1" id="260" name="Google Shape;260;p18"/>
          <p:cNvSpPr txBox="1"/>
          <p:nvPr/>
        </p:nvSpPr>
        <p:spPr>
          <a:xfrm>
            <a:off x="720000" y="2340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MISSING_FEATURE_1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RECOM_1" id="261" name="Google Shape;261;p18"/>
          <p:cNvSpPr txBox="1"/>
          <p:nvPr/>
        </p:nvSpPr>
        <p:spPr>
          <a:xfrm>
            <a:off x="1007999" y="2556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RECOM_1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MISSING_FEATURE_2" id="262" name="Google Shape;262;p18"/>
          <p:cNvSpPr txBox="1"/>
          <p:nvPr/>
        </p:nvSpPr>
        <p:spPr>
          <a:xfrm>
            <a:off x="720000" y="3276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MISSING_FEATURE_2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RECOM_2" id="263" name="Google Shape;263;p18"/>
          <p:cNvSpPr txBox="1"/>
          <p:nvPr/>
        </p:nvSpPr>
        <p:spPr>
          <a:xfrm>
            <a:off x="1007999" y="3492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RECOM_2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MISSING_FEATURE_3" id="264" name="Google Shape;264;p18"/>
          <p:cNvSpPr txBox="1"/>
          <p:nvPr/>
        </p:nvSpPr>
        <p:spPr>
          <a:xfrm>
            <a:off x="720000" y="4212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MISSING_FEATURE_3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RECOM_3" id="265" name="Google Shape;265;p18"/>
          <p:cNvSpPr txBox="1"/>
          <p:nvPr/>
        </p:nvSpPr>
        <p:spPr>
          <a:xfrm>
            <a:off x="1007999" y="4428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RECOM_3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MISSING_FEATURE_4" id="266" name="Google Shape;266;p18"/>
          <p:cNvSpPr txBox="1"/>
          <p:nvPr/>
        </p:nvSpPr>
        <p:spPr>
          <a:xfrm>
            <a:off x="720000" y="5148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MISSING_FEATURE_4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RECOM_4" id="267" name="Google Shape;267;p18"/>
          <p:cNvSpPr txBox="1"/>
          <p:nvPr/>
        </p:nvSpPr>
        <p:spPr>
          <a:xfrm>
            <a:off x="1007999" y="5364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RECOM_4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72;p19" title="Screenshot 2026-04-10 at 10.50.32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2288" y="152400"/>
            <a:ext cx="11687516" cy="6553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20" title="Screenshot 2026-04-10 at 10.51.39 PM.png"/>
          <p:cNvPicPr preferRelativeResize="0"/>
          <p:nvPr/>
        </p:nvPicPr>
        <p:blipFill rotWithShape="1">
          <a:blip r:embed="rId3">
            <a:alphaModFix/>
          </a:blip>
          <a:srcRect b="0" l="0" r="596" t="0"/>
          <a:stretch/>
        </p:blipFill>
        <p:spPr>
          <a:xfrm>
            <a:off x="292875" y="152400"/>
            <a:ext cx="11606352" cy="655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