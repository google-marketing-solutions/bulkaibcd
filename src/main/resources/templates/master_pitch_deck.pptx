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100"/>
  <p:notesSz cx="6858000" cy="9144000"/>
  <p:embeddedFontLst>
    <p:embeddedFont>
      <p:font typeface="Google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bold.fntdata"/><Relationship Id="rId14" Type="http://schemas.openxmlformats.org/officeDocument/2006/relationships/font" Target="fonts/GoogleSans-regular.fntdata"/><Relationship Id="rId17" Type="http://schemas.openxmlformats.org/officeDocument/2006/relationships/font" Target="fonts/GoogleSans-boldItalic.fntdata"/><Relationship Id="rId16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540f1211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540f12112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540f1211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540f12112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b5ae09bf9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b5ae09bf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b5ae09bf9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b5ae09bf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rot="4500000">
            <a:off x="5400000" y="-3600000"/>
            <a:ext cx="9000000" cy="10800000"/>
          </a:xfrm>
          <a:prstGeom prst="pie">
            <a:avLst>
              <a:gd fmla="val -1687500000" name="adj1"/>
              <a:gd fmla="val 16200000" name="adj2"/>
            </a:avLst>
          </a:prstGeom>
          <a:solidFill>
            <a:srgbClr val="4285F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00" y="720000"/>
            <a:ext cx="2160000" cy="550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00" y="6120000"/>
            <a:ext cx="1080000" cy="36529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20000" y="216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ABCD</a:t>
            </a:r>
            <a:br>
              <a:rPr b="1" i="0" lang="en-US" sz="48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i="0" lang="en-US" sz="48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Evaluation Report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20000" y="3960000"/>
            <a:ext cx="36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Powered by </a:t>
            </a:r>
            <a:r>
              <a:rPr lang="en-US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Bulk AiBCD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800000" y="630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720000" y="54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ABCD Evaluation Report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20000" y="108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Report Details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20000" y="2520000"/>
            <a:ext cx="43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REQUESTED FOR: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20000" y="2808000"/>
            <a:ext cx="43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BRAND_NAME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20000" y="3600000"/>
            <a:ext cx="43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# OF CREATIVES TESTED: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20000" y="3888000"/>
            <a:ext cx="43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VIDEO_COUNT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120000" y="2520000"/>
            <a:ext cx="43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COMPLETED ON: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120000" y="2808000"/>
            <a:ext cx="43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COMPLETION_DATE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120000" y="3600000"/>
            <a:ext cx="43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MARKETING OBJECTIVE: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120000" y="3888000"/>
            <a:ext cx="43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"/>
                <a:ea typeface="Google Sans"/>
                <a:cs typeface="Google Sans"/>
                <a:sym typeface="Google Sans"/>
              </a:rPr>
              <a:t>MARKETING_OBJECTIVE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2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&amp; Confidential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200000" y="6300000"/>
            <a:ext cx="43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Creative Works.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160000" y="630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720000" y="540000"/>
            <a:ext cx="72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Results Summary</a:t>
            </a:r>
            <a:endParaRPr/>
          </a:p>
        </p:txBody>
      </p:sp>
      <p:sp>
        <p:nvSpPr>
          <p:cNvPr descr="ROW_1" id="112" name="Google Shape;112;p15"/>
          <p:cNvSpPr/>
          <p:nvPr/>
        </p:nvSpPr>
        <p:spPr>
          <a:xfrm>
            <a:off x="720000" y="1440000"/>
            <a:ext cx="10800000" cy="11880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UMBNAIL_1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999" y="1527750"/>
            <a:ext cx="1800000" cy="1012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VIDEO_TITLE_1" id="114" name="Google Shape;114;p15"/>
          <p:cNvSpPr txBox="1"/>
          <p:nvPr/>
        </p:nvSpPr>
        <p:spPr>
          <a:xfrm>
            <a:off x="2934000" y="1910850"/>
            <a:ext cx="540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"/>
                <a:ea typeface="Google Sans"/>
                <a:cs typeface="Google Sans"/>
                <a:sym typeface="Google Sans"/>
              </a:rPr>
              <a:t>VIDEO_TITLE_1</a:t>
            </a:r>
            <a:endParaRPr/>
          </a:p>
        </p:txBody>
      </p:sp>
      <p:sp>
        <p:nvSpPr>
          <p:cNvPr descr="ADHERENCE_CATEGORY_1" id="115" name="Google Shape;115;p15"/>
          <p:cNvSpPr/>
          <p:nvPr/>
        </p:nvSpPr>
        <p:spPr>
          <a:xfrm>
            <a:off x="8640000" y="1818000"/>
            <a:ext cx="1980000" cy="432000"/>
          </a:xfrm>
          <a:prstGeom prst="roundRect">
            <a:avLst>
              <a:gd fmla="val 15000" name="adj"/>
            </a:avLst>
          </a:prstGeom>
          <a:solidFill>
            <a:srgbClr val="00B05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ADHERENCE_CATEGORY_1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descr="ROW_2" id="116" name="Google Shape;116;p15"/>
          <p:cNvSpPr/>
          <p:nvPr/>
        </p:nvSpPr>
        <p:spPr>
          <a:xfrm>
            <a:off x="720000" y="2808000"/>
            <a:ext cx="10800000" cy="11880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UMBNAIL_2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999" y="2895750"/>
            <a:ext cx="1800000" cy="1012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VIDEO_TITLE_2" id="118" name="Google Shape;118;p15"/>
          <p:cNvSpPr txBox="1"/>
          <p:nvPr/>
        </p:nvSpPr>
        <p:spPr>
          <a:xfrm>
            <a:off x="2934000" y="3305850"/>
            <a:ext cx="540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VIDEO_TITLE_2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descr="ADHERENCE_CATEGORY_2" id="119" name="Google Shape;119;p15"/>
          <p:cNvSpPr/>
          <p:nvPr/>
        </p:nvSpPr>
        <p:spPr>
          <a:xfrm>
            <a:off x="8640000" y="3186000"/>
            <a:ext cx="1980000" cy="432000"/>
          </a:xfrm>
          <a:prstGeom prst="roundRect">
            <a:avLst>
              <a:gd fmla="val 15000" name="adj"/>
            </a:avLst>
          </a:prstGeom>
          <a:solidFill>
            <a:srgbClr val="FFC0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ADHERENCE_CATEGORY_2</a:t>
            </a:r>
            <a:endParaRPr b="1" sz="1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descr="ROW_3" id="120" name="Google Shape;120;p15"/>
          <p:cNvSpPr/>
          <p:nvPr/>
        </p:nvSpPr>
        <p:spPr>
          <a:xfrm>
            <a:off x="720000" y="4176000"/>
            <a:ext cx="10800000" cy="11880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UMBNAIL_3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999" y="4246775"/>
            <a:ext cx="1800000" cy="1012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VIDEO_TITLE_3" id="122" name="Google Shape;122;p15"/>
          <p:cNvSpPr txBox="1"/>
          <p:nvPr/>
        </p:nvSpPr>
        <p:spPr>
          <a:xfrm>
            <a:off x="2934000" y="4700850"/>
            <a:ext cx="540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VIDEO_TITLE_3</a:t>
            </a:r>
            <a:endParaRPr/>
          </a:p>
        </p:txBody>
      </p:sp>
      <p:sp>
        <p:nvSpPr>
          <p:cNvPr descr="ADHERENCE_CATEGORY_3" id="123" name="Google Shape;123;p15"/>
          <p:cNvSpPr/>
          <p:nvPr/>
        </p:nvSpPr>
        <p:spPr>
          <a:xfrm>
            <a:off x="8640000" y="4554000"/>
            <a:ext cx="1980000" cy="432000"/>
          </a:xfrm>
          <a:prstGeom prst="roundRect">
            <a:avLst>
              <a:gd fmla="val 15000" name="adj"/>
            </a:avLst>
          </a:prstGeom>
          <a:solidFill>
            <a:srgbClr val="FFC0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ADHERENCE_CATEGORY_3</a:t>
            </a:r>
            <a:endParaRPr b="1" sz="1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720000" y="180000"/>
            <a:ext cx="54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Detailed Results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80000" y="360000"/>
            <a:ext cx="648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Evaluated Guidelines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20000" y="792000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Asset</a:t>
            </a:r>
            <a:r>
              <a:rPr lang="en-US" sz="12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 ASSET_NUMBER </a:t>
            </a:r>
            <a:r>
              <a:rPr b="0" i="0" lang="en-US" sz="1200" u="none" cap="none" strike="noStrike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of </a:t>
            </a:r>
            <a:r>
              <a:rPr lang="en-US" sz="12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VIDEO_COUNT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0" y="288000"/>
            <a:ext cx="1800002" cy="458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00" y="1620000"/>
            <a:ext cx="3600000" cy="20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20000" y="4185000"/>
            <a:ext cx="360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ASSET NAME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20000" y="4365000"/>
            <a:ext cx="36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ASSET_NAME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20000" y="4797000"/>
            <a:ext cx="360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ASSET LINK</a:t>
            </a:r>
            <a:endParaRPr/>
          </a:p>
        </p:txBody>
      </p:sp>
      <p:sp>
        <p:nvSpPr>
          <p:cNvPr descr="ASSET_LINK_PLACEHOLDER" id="136" name="Google Shape;136;p16"/>
          <p:cNvSpPr txBox="1"/>
          <p:nvPr/>
        </p:nvSpPr>
        <p:spPr>
          <a:xfrm>
            <a:off x="720000" y="4977000"/>
            <a:ext cx="36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ASSET_LINK</a:t>
            </a:r>
            <a:endParaRPr sz="1200"/>
          </a:p>
        </p:txBody>
      </p:sp>
      <p:sp>
        <p:nvSpPr>
          <p:cNvPr id="137" name="Google Shape;137;p16"/>
          <p:cNvSpPr txBox="1"/>
          <p:nvPr/>
        </p:nvSpPr>
        <p:spPr>
          <a:xfrm>
            <a:off x="720000" y="5517000"/>
            <a:ext cx="360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ASSET RESULT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20000" y="5697000"/>
            <a:ext cx="367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ADHERENCE_PERC</a:t>
            </a:r>
            <a:r>
              <a:rPr b="0" lang="en-US" sz="1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Adherence</a:t>
            </a: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0" lang="en-US" sz="1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(ADHERENCE_X/</a:t>
            </a: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ADHERENCE_Y</a:t>
            </a:r>
            <a:r>
              <a:rPr b="0" lang="en-US" sz="1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/>
          </a:p>
        </p:txBody>
      </p:sp>
      <p:sp>
        <p:nvSpPr>
          <p:cNvPr descr="ADHERENCE_CATEGORY" id="139" name="Google Shape;139;p16"/>
          <p:cNvSpPr/>
          <p:nvPr/>
        </p:nvSpPr>
        <p:spPr>
          <a:xfrm>
            <a:off x="2592000" y="5733000"/>
            <a:ext cx="1440000" cy="360000"/>
          </a:xfrm>
          <a:prstGeom prst="roundRect">
            <a:avLst>
              <a:gd fmla="val 30000" name="adj"/>
            </a:avLst>
          </a:prstGeom>
          <a:solidFill>
            <a:srgbClr val="00B05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ADHERENCE_CATEGORY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000" y="6300000"/>
            <a:ext cx="540000" cy="1826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368000" y="6300000"/>
            <a:ext cx="28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&amp; Confidential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680000" y="15379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Tight Framing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80000" y="16903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(A) Voice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4680000" y="18427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(A) Direct to Camera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4680000" y="19951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(A) Supers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4680000" y="21475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(B) Close-ups (Product)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680000" y="22999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(B) Product Extreme close up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680000" y="24523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(C) People Using Product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4680000" y="26047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(C) Casual Language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680000" y="27571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(C) Humor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680000" y="29095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(C) Character-Driven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680000" y="30619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(D) Call to Action (Audio)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4680000" y="3214309"/>
            <a:ext cx="234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(D) Special Offer (Speech)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720000" y="180000"/>
            <a:ext cx="54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Detailed Results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80000" y="360000"/>
            <a:ext cx="648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Evaluated Guidelines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20000" y="792000"/>
            <a:ext cx="54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Asset</a:t>
            </a:r>
            <a:r>
              <a:rPr lang="en-US" sz="12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 ASSET_NUMBER </a:t>
            </a:r>
            <a:r>
              <a:rPr b="0" i="0" lang="en-US" sz="1200" u="none" cap="none" strike="noStrike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of </a:t>
            </a:r>
            <a:r>
              <a:rPr lang="en-US" sz="12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VIDEO_COUNT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0" y="288000"/>
            <a:ext cx="1800002" cy="458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00" y="1620000"/>
            <a:ext cx="3600000" cy="20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20000" y="4185000"/>
            <a:ext cx="360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ASSET NAME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20000" y="4365000"/>
            <a:ext cx="36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ASSET_NAME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20000" y="4797000"/>
            <a:ext cx="360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ASSET LINK</a:t>
            </a:r>
            <a:endParaRPr/>
          </a:p>
        </p:txBody>
      </p:sp>
      <p:sp>
        <p:nvSpPr>
          <p:cNvPr descr="ASSET_LINK_PLACEHOLDER" id="166" name="Google Shape;166;p17"/>
          <p:cNvSpPr txBox="1"/>
          <p:nvPr/>
        </p:nvSpPr>
        <p:spPr>
          <a:xfrm>
            <a:off x="720000" y="4977000"/>
            <a:ext cx="36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ASSET_LINK</a:t>
            </a:r>
            <a:endParaRPr sz="1200"/>
          </a:p>
        </p:txBody>
      </p:sp>
      <p:sp>
        <p:nvSpPr>
          <p:cNvPr id="167" name="Google Shape;167;p17"/>
          <p:cNvSpPr txBox="1"/>
          <p:nvPr/>
        </p:nvSpPr>
        <p:spPr>
          <a:xfrm>
            <a:off x="720000" y="5517000"/>
            <a:ext cx="360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ASSET RESULT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20000" y="5697000"/>
            <a:ext cx="367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ADHERENCE_PERC</a:t>
            </a:r>
            <a:r>
              <a:rPr b="0" lang="en-US" sz="1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Adherence</a:t>
            </a: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0" lang="en-US" sz="1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(ADHERENCE_X/</a:t>
            </a:r>
            <a:r>
              <a:rPr lang="en-US" sz="1200">
                <a:latin typeface="Google Sans"/>
                <a:ea typeface="Google Sans"/>
                <a:cs typeface="Google Sans"/>
                <a:sym typeface="Google Sans"/>
              </a:rPr>
              <a:t>ADHERENCE_Y</a:t>
            </a:r>
            <a:r>
              <a:rPr b="0" lang="en-US" sz="1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/>
          </a:p>
        </p:txBody>
      </p:sp>
      <p:sp>
        <p:nvSpPr>
          <p:cNvPr descr="ADHERENCE_CATEGORY" id="169" name="Google Shape;169;p17"/>
          <p:cNvSpPr/>
          <p:nvPr/>
        </p:nvSpPr>
        <p:spPr>
          <a:xfrm>
            <a:off x="2592000" y="5733000"/>
            <a:ext cx="1440000" cy="360000"/>
          </a:xfrm>
          <a:prstGeom prst="roundRect">
            <a:avLst>
              <a:gd fmla="val 30000" name="adj"/>
            </a:avLst>
          </a:prstGeom>
          <a:solidFill>
            <a:srgbClr val="00B05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ADHERENCE_CATEGORY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000" y="6300000"/>
            <a:ext cx="540000" cy="1826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1368000" y="6300000"/>
            <a:ext cx="28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08080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&amp; Confidential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680000" y="15379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Starting Strong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226276" y="15403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Visual (3+ Times)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981450" y="1537900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Product Context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981450" y="1692738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Clear Messaging</a:t>
            </a:r>
            <a:endParaRPr sz="900">
              <a:solidFill>
                <a:srgbClr val="0F9D5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9981450" y="1845139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Single Message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9981450" y="1997539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Casual Language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9981450" y="2149940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Expression of Benefit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9981450" y="2302340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Competitive Claim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9981450" y="2454741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(C) Visualization of Benefit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9981450" y="2607141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Emotions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9981450" y="2759542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Humor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9981450" y="2911942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Delight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9981450" y="3064343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(D) Call-to-Action (Text)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9981450" y="3216743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Call-to-Action (Speech)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9981450" y="3369144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(D) Relevant Call-to-Action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9981450" y="3521544"/>
            <a:ext cx="2222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Purchase Incentive (Limited Time/Quantities)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981450" y="3826345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Special Offer (Text)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9981450" y="3978746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Special Offer (Speech)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9981450" y="4131147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(D) Price (Text)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9981450" y="4283547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Price (Speech)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9981450" y="4435948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Power of Free (Text)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9981450" y="4588348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Power of Free (Speech)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9981450" y="4740749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(D) Path to Purchase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9981450" y="4893149"/>
            <a:ext cx="222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(D) Search Bar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7226276" y="16927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Logo (Large)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7226276" y="18451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Mention (Speech)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7226276" y="19975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Brand Mention (Speech) (See &amp; Say)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7226276" y="21499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Brand Mention (Speech) (Last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7226276" y="23023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Brand Mention (Speech)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7226276" y="2454725"/>
            <a:ext cx="2493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Brand Mention (Speech) (See &amp; Say)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7226276" y="27595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Mnemonic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7226276" y="29119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Multiple Brand Elements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7226276" y="30643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Product Visual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7226276" y="32167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Product Visual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7226276" y="33691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Product Visual (Last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7226276" y="35215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Product Visual (Close-up)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7226276" y="36739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Product Visual (Extreme Close-up)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7226276" y="382632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Product Mention (Speech or Text)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7226276" y="39857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Product Mention (Speech)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7226276" y="41381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Product Mention (Speech)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7226276" y="42905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Product Mention (Speech) (Last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7226276" y="44429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Product Mention (Text)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7226276" y="45953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Product Focus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7226276" y="47477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Presence of People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7226276" y="49001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Presence of People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7226276" y="50525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Presence of People (Close-up)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7226276" y="52049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Visible Face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7226276" y="5357375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Product Interaction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4680000" y="16903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Quick Pacing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4680000" y="18427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Quick Pacing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4680000" y="19951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Tight Framing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4680000" y="21475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Tight Framing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4680000" y="22999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Sound On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4680000" y="24523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Music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4680000" y="26047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Sound Effects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4680000" y="27571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Voice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4680000" y="29095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Voice-Over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680000" y="30619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Dialogue (1-Person)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4680000" y="32143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Dialogue (2+ People)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4680000" y="33667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(A) Direct to Camera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4680000" y="35191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(A) Supers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4680000" y="36715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(A) Supers with Audio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4680000" y="38239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(A) Supers with Audio (Augmented)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4680000" y="39763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(A) Supers with Audio (See &amp; Say)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4680000" y="41287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(A) Large Supers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4680000" y="42811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(A) Bright Visuals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4680000" y="443350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(A) High Contrast Visuals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4680000" y="5367528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Visual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80000" y="5522976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Visual (First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4680000" y="5212080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Visual (Last 5s)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4680000" y="5056632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(B) Brand Visual (Overlaid)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4680000" y="5678424"/>
            <a:ext cx="239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Brand Visual (In-situation)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7223760" y="5513832"/>
            <a:ext cx="2493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(C) Emoji Usage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7226275" y="5662175"/>
            <a:ext cx="300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(C)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Direct to Camera Character Talk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4680000" y="4590288"/>
            <a:ext cx="300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(A) Shorts Production Style (User Generated)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4681728" y="4745736"/>
            <a:ext cx="300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(A) Short Form Video Adaptation_high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4681728" y="4901184"/>
            <a:ext cx="300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(A) Vertical Format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4681728" y="5833872"/>
            <a:ext cx="300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 (B) Brand Secondary Element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4681728" y="5989320"/>
            <a:ext cx="300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○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 (B) Secondary Product Context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7223760" y="5815584"/>
            <a:ext cx="300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● </a:t>
            </a:r>
            <a:r>
              <a:rPr lang="en-US" sz="900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(C) Uses Influencer/Creator</a:t>
            </a:r>
            <a:endParaRPr sz="900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/>
        </p:nvSpPr>
        <p:spPr>
          <a:xfrm>
            <a:off x="540000" y="360000"/>
            <a:ext cx="72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Missing Features Analysis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Features That Should Be Present But Weren't Detected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540000" y="1260000"/>
            <a:ext cx="1080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oogle Sans"/>
                <a:ea typeface="Google Sans"/>
                <a:cs typeface="Google Sans"/>
                <a:sym typeface="Google Sans"/>
              </a:rPr>
              <a:t>Asset ASSET_NUMBER of VIDEO_COUNT: ASSET_NAME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540000" y="1800000"/>
            <a:ext cx="1080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9AB00"/>
                </a:solidFill>
                <a:latin typeface="Google Sans"/>
                <a:ea typeface="Google Sans"/>
                <a:cs typeface="Google Sans"/>
                <a:sym typeface="Google Sans"/>
              </a:rPr>
              <a:t>⚠️  </a:t>
            </a:r>
            <a: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  <a:t>Total Missing Features Found MISSING_FEATURES_COUNT</a:t>
            </a:r>
            <a:b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0" lang="en-US" sz="11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Objective: </a:t>
            </a:r>
            <a:r>
              <a:rPr lang="en-US" sz="1100">
                <a:latin typeface="Google Sans"/>
                <a:ea typeface="Google Sans"/>
                <a:cs typeface="Google Sans"/>
                <a:sym typeface="Google Sans"/>
              </a:rPr>
              <a:t>MARKETING_OBJECTIVE</a:t>
            </a:r>
            <a:r>
              <a:rPr b="0" lang="en-US" sz="11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| Score: </a:t>
            </a:r>
            <a:r>
              <a:rPr lang="en-US" sz="1100">
                <a:latin typeface="Google Sans"/>
                <a:ea typeface="Google Sans"/>
                <a:cs typeface="Google Sans"/>
                <a:sym typeface="Google Sans"/>
              </a:rPr>
              <a:t>ADHERENCE_PERC</a:t>
            </a:r>
            <a:r>
              <a:rPr b="0" lang="en-US" sz="11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| Status: </a:t>
            </a:r>
            <a:r>
              <a:rPr lang="en-US" sz="1100">
                <a:latin typeface="Google Sans"/>
                <a:ea typeface="Google Sans"/>
                <a:cs typeface="Google Sans"/>
                <a:sym typeface="Google Sans"/>
              </a:rPr>
              <a:t>ADHERENCE_CATEGORY</a:t>
            </a:r>
            <a:endParaRPr/>
          </a:p>
        </p:txBody>
      </p:sp>
      <p:sp>
        <p:nvSpPr>
          <p:cNvPr descr="MISSING_FEATURE_1" id="260" name="Google Shape;260;p18"/>
          <p:cNvSpPr txBox="1"/>
          <p:nvPr/>
        </p:nvSpPr>
        <p:spPr>
          <a:xfrm>
            <a:off x="720000" y="2340000"/>
            <a:ext cx="1008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  <a:t>• MISSING_FEATURE_1</a:t>
            </a:r>
            <a:endParaRPr/>
          </a:p>
        </p:txBody>
      </p:sp>
      <p:sp>
        <p:nvSpPr>
          <p:cNvPr descr="RECOM_1" id="261" name="Google Shape;261;p18"/>
          <p:cNvSpPr txBox="1"/>
          <p:nvPr/>
        </p:nvSpPr>
        <p:spPr>
          <a:xfrm>
            <a:off x="1007999" y="2556000"/>
            <a:ext cx="10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→ </a:t>
            </a:r>
            <a:r>
              <a:rPr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RECOM_1</a:t>
            </a:r>
            <a:endParaRPr/>
          </a:p>
        </p:txBody>
      </p:sp>
      <p:sp>
        <p:nvSpPr>
          <p:cNvPr descr="MISSING_FEATURE_2" id="262" name="Google Shape;262;p18"/>
          <p:cNvSpPr txBox="1"/>
          <p:nvPr/>
        </p:nvSpPr>
        <p:spPr>
          <a:xfrm>
            <a:off x="720000" y="3276000"/>
            <a:ext cx="1008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  <a:t>• MISSING_FEATURE_2</a:t>
            </a:r>
            <a:endParaRPr/>
          </a:p>
        </p:txBody>
      </p:sp>
      <p:sp>
        <p:nvSpPr>
          <p:cNvPr descr="RECOM_2" id="263" name="Google Shape;263;p18"/>
          <p:cNvSpPr txBox="1"/>
          <p:nvPr/>
        </p:nvSpPr>
        <p:spPr>
          <a:xfrm>
            <a:off x="1007999" y="3492000"/>
            <a:ext cx="10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→ </a:t>
            </a:r>
            <a:r>
              <a:rPr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RECOM_2</a:t>
            </a:r>
            <a:endParaRPr/>
          </a:p>
        </p:txBody>
      </p:sp>
      <p:sp>
        <p:nvSpPr>
          <p:cNvPr descr="MISSING_FEATURE_3" id="264" name="Google Shape;264;p18"/>
          <p:cNvSpPr txBox="1"/>
          <p:nvPr/>
        </p:nvSpPr>
        <p:spPr>
          <a:xfrm>
            <a:off x="720000" y="4212000"/>
            <a:ext cx="1008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  <a:t>• </a:t>
            </a:r>
            <a: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  <a:t>MISSING_FEATURE_3</a:t>
            </a:r>
            <a:endParaRPr/>
          </a:p>
        </p:txBody>
      </p:sp>
      <p:sp>
        <p:nvSpPr>
          <p:cNvPr descr="RECOM_3" id="265" name="Google Shape;265;p18"/>
          <p:cNvSpPr txBox="1"/>
          <p:nvPr/>
        </p:nvSpPr>
        <p:spPr>
          <a:xfrm>
            <a:off x="1007999" y="4428000"/>
            <a:ext cx="10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→ </a:t>
            </a:r>
            <a:r>
              <a:rPr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RECOM_3</a:t>
            </a:r>
            <a:endParaRPr/>
          </a:p>
        </p:txBody>
      </p:sp>
      <p:sp>
        <p:nvSpPr>
          <p:cNvPr descr="MISSING_FEATURE_4" id="266" name="Google Shape;266;p18"/>
          <p:cNvSpPr txBox="1"/>
          <p:nvPr/>
        </p:nvSpPr>
        <p:spPr>
          <a:xfrm>
            <a:off x="720000" y="5148000"/>
            <a:ext cx="1008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  <a:t>• </a:t>
            </a:r>
            <a:r>
              <a:rPr b="1" lang="en-US" sz="1100">
                <a:solidFill>
                  <a:srgbClr val="DB4437"/>
                </a:solidFill>
                <a:latin typeface="Google Sans"/>
                <a:ea typeface="Google Sans"/>
                <a:cs typeface="Google Sans"/>
                <a:sym typeface="Google Sans"/>
              </a:rPr>
              <a:t>MISSING_FEATURE_4</a:t>
            </a:r>
            <a:endParaRPr/>
          </a:p>
        </p:txBody>
      </p:sp>
      <p:sp>
        <p:nvSpPr>
          <p:cNvPr descr="RECOM_4" id="267" name="Google Shape;267;p18"/>
          <p:cNvSpPr txBox="1"/>
          <p:nvPr/>
        </p:nvSpPr>
        <p:spPr>
          <a:xfrm>
            <a:off x="1007999" y="5364000"/>
            <a:ext cx="10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→ </a:t>
            </a:r>
            <a:r>
              <a:rPr lang="en-US" sz="1000">
                <a:solidFill>
                  <a:srgbClr val="4D4D4D"/>
                </a:solidFill>
                <a:latin typeface="Google Sans"/>
                <a:ea typeface="Google Sans"/>
                <a:cs typeface="Google Sans"/>
                <a:sym typeface="Google Sans"/>
              </a:rPr>
              <a:t>RECOM_4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9" title="Screenshot 2026-04-10 at 10.50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288" y="152400"/>
            <a:ext cx="11687516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0" title="Screenshot 2026-04-10 at 10.51.39 PM.png"/>
          <p:cNvPicPr preferRelativeResize="0"/>
          <p:nvPr/>
        </p:nvPicPr>
        <p:blipFill rotWithShape="1">
          <a:blip r:embed="rId3">
            <a:alphaModFix/>
          </a:blip>
          <a:srcRect b="0" l="0" r="596" t="0"/>
          <a:stretch/>
        </p:blipFill>
        <p:spPr>
          <a:xfrm>
            <a:off x="292875" y="152400"/>
            <a:ext cx="11606352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