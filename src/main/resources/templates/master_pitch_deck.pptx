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2100"/>
  <p:notesSz cx="6858000" cy="9144000"/>
  <p:embeddedFontLst>
    <p:embeddedFont>
      <p:font typeface="Google Sans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GoogleSans-bold.fntdata"/><Relationship Id="rId14" Type="http://schemas.openxmlformats.org/officeDocument/2006/relationships/font" Target="fonts/GoogleSans-regular.fntdata"/><Relationship Id="rId17" Type="http://schemas.openxmlformats.org/officeDocument/2006/relationships/font" Target="fonts/GoogleSans-boldItalic.fntdata"/><Relationship Id="rId16" Type="http://schemas.openxmlformats.org/officeDocument/2006/relationships/font" Target="fonts/GoogleSans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d540f12112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g3d540f12112_0_1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540f1211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g3d540f12112_0_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8b5ae09bf9_0_6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8b5ae09bf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8b5ae09bf9_0_7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8b5ae09bf9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5.jpg"/><Relationship Id="rId5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2.jpg"/><Relationship Id="rId5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2.jpg"/><Relationship Id="rId5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 rot="4500000">
            <a:off x="5400000" y="-3600000"/>
            <a:ext cx="9000000" cy="10800000"/>
          </a:xfrm>
          <a:prstGeom prst="pie">
            <a:avLst>
              <a:gd fmla="val -1687500000" name="adj1"/>
              <a:gd fmla="val 16200000" name="adj2"/>
            </a:avLst>
          </a:prstGeom>
          <a:solidFill>
            <a:srgbClr val="4285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5" name="Google Shape;8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0000" y="720000"/>
            <a:ext cx="2160000" cy="5506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0000" y="6120000"/>
            <a:ext cx="1080000" cy="36529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720000" y="2160000"/>
            <a:ext cx="6480000" cy="14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ABCD</a:t>
            </a:r>
            <a:br>
              <a:rPr b="1" i="0" lang="en-US" sz="4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</a:br>
            <a:r>
              <a:rPr b="1" i="0" lang="en-US" sz="4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Evaluation Report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720000" y="3960000"/>
            <a:ext cx="360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Powered by </a:t>
            </a:r>
            <a:r>
              <a:rPr lang="en-US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Bulk AiBCD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0800000" y="6300000"/>
            <a:ext cx="7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/>
        </p:nvSpPr>
        <p:spPr>
          <a:xfrm>
            <a:off x="720000" y="540000"/>
            <a:ext cx="10800000" cy="3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ABCD Evaluation Report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720000" y="1080000"/>
            <a:ext cx="108000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Report Details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720000" y="2520000"/>
            <a:ext cx="43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REQUESTED FOR: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720000" y="2808000"/>
            <a:ext cx="432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Google Sans"/>
                <a:ea typeface="Google Sans"/>
                <a:cs typeface="Google Sans"/>
                <a:sym typeface="Google Sans"/>
              </a:rPr>
              <a:t>BRAND_NAME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720000" y="3600000"/>
            <a:ext cx="43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# OF CREATIVES TESTED: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720000" y="3888000"/>
            <a:ext cx="432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Google Sans"/>
                <a:ea typeface="Google Sans"/>
                <a:cs typeface="Google Sans"/>
                <a:sym typeface="Google Sans"/>
              </a:rPr>
              <a:t>VIDEO_COUNT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120000" y="2520000"/>
            <a:ext cx="43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COMPLETED ON: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6120000" y="2808000"/>
            <a:ext cx="432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Google Sans"/>
                <a:ea typeface="Google Sans"/>
                <a:cs typeface="Google Sans"/>
                <a:sym typeface="Google Sans"/>
              </a:rPr>
              <a:t>COMPLETION_DATE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6120000" y="3600000"/>
            <a:ext cx="43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MARKETING OBJECTIVE: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6120000" y="3888000"/>
            <a:ext cx="432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Google Sans"/>
                <a:ea typeface="Google Sans"/>
                <a:cs typeface="Google Sans"/>
                <a:sym typeface="Google Sans"/>
              </a:rPr>
              <a:t>MARKETING_OBJECTIVE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720000" y="6300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&amp; Confidential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200000" y="6300000"/>
            <a:ext cx="43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Creative Works.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1160000" y="6300000"/>
            <a:ext cx="72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/>
          <p:nvPr/>
        </p:nvSpPr>
        <p:spPr>
          <a:xfrm>
            <a:off x="720000" y="540000"/>
            <a:ext cx="72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Results Summary</a:t>
            </a:r>
            <a:endParaRPr/>
          </a:p>
        </p:txBody>
      </p:sp>
      <p:sp>
        <p:nvSpPr>
          <p:cNvPr descr="ROW_1" id="112" name="Google Shape;112;p15"/>
          <p:cNvSpPr/>
          <p:nvPr/>
        </p:nvSpPr>
        <p:spPr>
          <a:xfrm>
            <a:off x="720000" y="1440000"/>
            <a:ext cx="10800000" cy="1188000"/>
          </a:xfrm>
          <a:prstGeom prst="rect">
            <a:avLst/>
          </a:prstGeom>
          <a:solidFill>
            <a:srgbClr val="FAFAFA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HUMBNAIL_1" id="113" name="Google Shape;1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7999" y="1527750"/>
            <a:ext cx="1800000" cy="1012500"/>
          </a:xfrm>
          <a:prstGeom prst="rect">
            <a:avLst/>
          </a:prstGeom>
          <a:noFill/>
          <a:ln>
            <a:noFill/>
          </a:ln>
        </p:spPr>
      </p:pic>
      <p:sp>
        <p:nvSpPr>
          <p:cNvPr descr="VIDEO_TITLE_1" id="114" name="Google Shape;114;p15"/>
          <p:cNvSpPr txBox="1"/>
          <p:nvPr/>
        </p:nvSpPr>
        <p:spPr>
          <a:xfrm>
            <a:off x="2934000" y="1910850"/>
            <a:ext cx="54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latin typeface="Google Sans"/>
                <a:ea typeface="Google Sans"/>
                <a:cs typeface="Google Sans"/>
                <a:sym typeface="Google Sans"/>
              </a:rPr>
              <a:t>VIDEO_TITLE_1</a:t>
            </a:r>
            <a:endParaRPr/>
          </a:p>
        </p:txBody>
      </p:sp>
      <p:sp>
        <p:nvSpPr>
          <p:cNvPr descr="ADHERENCE_CATEGORY_1" id="115" name="Google Shape;115;p15"/>
          <p:cNvSpPr/>
          <p:nvPr/>
        </p:nvSpPr>
        <p:spPr>
          <a:xfrm>
            <a:off x="8640000" y="1818000"/>
            <a:ext cx="1980000" cy="432000"/>
          </a:xfrm>
          <a:prstGeom prst="roundRect">
            <a:avLst>
              <a:gd fmla="val 15000" name="adj"/>
            </a:avLst>
          </a:prstGeom>
          <a:solidFill>
            <a:srgbClr val="00B05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0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ADHERENCE_CATEGORY_1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descr="ROW_2" id="116" name="Google Shape;116;p15"/>
          <p:cNvSpPr/>
          <p:nvPr/>
        </p:nvSpPr>
        <p:spPr>
          <a:xfrm>
            <a:off x="720000" y="2808000"/>
            <a:ext cx="10800000" cy="1188000"/>
          </a:xfrm>
          <a:prstGeom prst="rect">
            <a:avLst/>
          </a:prstGeom>
          <a:solidFill>
            <a:srgbClr val="FAFAFA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HUMBNAIL_2" id="117" name="Google Shape;11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7999" y="2895750"/>
            <a:ext cx="1800000" cy="1012500"/>
          </a:xfrm>
          <a:prstGeom prst="rect">
            <a:avLst/>
          </a:prstGeom>
          <a:noFill/>
          <a:ln>
            <a:noFill/>
          </a:ln>
        </p:spPr>
      </p:pic>
      <p:sp>
        <p:nvSpPr>
          <p:cNvPr descr="VIDEO_TITLE_2" id="118" name="Google Shape;118;p15"/>
          <p:cNvSpPr txBox="1"/>
          <p:nvPr/>
        </p:nvSpPr>
        <p:spPr>
          <a:xfrm>
            <a:off x="2934000" y="3305850"/>
            <a:ext cx="54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VIDEO_TITLE_2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descr="ADHERENCE_CATEGORY_2" id="119" name="Google Shape;119;p15"/>
          <p:cNvSpPr/>
          <p:nvPr/>
        </p:nvSpPr>
        <p:spPr>
          <a:xfrm>
            <a:off x="8640000" y="3186000"/>
            <a:ext cx="1980000" cy="432000"/>
          </a:xfrm>
          <a:prstGeom prst="roundRect">
            <a:avLst>
              <a:gd fmla="val 15000" name="adj"/>
            </a:avLst>
          </a:prstGeom>
          <a:solidFill>
            <a:srgbClr val="FFC00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ADHERENCE_CATEGORY_2</a:t>
            </a:r>
            <a:endParaRPr b="1" sz="1000"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descr="ROW_3" id="120" name="Google Shape;120;p15"/>
          <p:cNvSpPr/>
          <p:nvPr/>
        </p:nvSpPr>
        <p:spPr>
          <a:xfrm>
            <a:off x="720000" y="4176000"/>
            <a:ext cx="10800000" cy="1188000"/>
          </a:xfrm>
          <a:prstGeom prst="rect">
            <a:avLst/>
          </a:prstGeom>
          <a:solidFill>
            <a:srgbClr val="FAFAFA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HUMBNAIL_3" id="121" name="Google Shape;12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7999" y="4246775"/>
            <a:ext cx="1800000" cy="1012500"/>
          </a:xfrm>
          <a:prstGeom prst="rect">
            <a:avLst/>
          </a:prstGeom>
          <a:noFill/>
          <a:ln>
            <a:noFill/>
          </a:ln>
        </p:spPr>
      </p:pic>
      <p:sp>
        <p:nvSpPr>
          <p:cNvPr descr="VIDEO_TITLE_3" id="122" name="Google Shape;122;p15"/>
          <p:cNvSpPr txBox="1"/>
          <p:nvPr/>
        </p:nvSpPr>
        <p:spPr>
          <a:xfrm>
            <a:off x="2934000" y="4700850"/>
            <a:ext cx="540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Google Sans"/>
                <a:ea typeface="Google Sans"/>
                <a:cs typeface="Google Sans"/>
                <a:sym typeface="Google Sans"/>
              </a:rPr>
              <a:t>VIDEO_TITLE_3</a:t>
            </a:r>
            <a:endParaRPr/>
          </a:p>
        </p:txBody>
      </p:sp>
      <p:sp>
        <p:nvSpPr>
          <p:cNvPr descr="ADHERENCE_CATEGORY_3" id="123" name="Google Shape;123;p15"/>
          <p:cNvSpPr/>
          <p:nvPr/>
        </p:nvSpPr>
        <p:spPr>
          <a:xfrm>
            <a:off x="8640000" y="4554000"/>
            <a:ext cx="1980000" cy="432000"/>
          </a:xfrm>
          <a:prstGeom prst="roundRect">
            <a:avLst>
              <a:gd fmla="val 15000" name="adj"/>
            </a:avLst>
          </a:prstGeom>
          <a:solidFill>
            <a:srgbClr val="FFC00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ADHERENCE_CATEGORY_3</a:t>
            </a:r>
            <a:endParaRPr b="1" sz="1000">
              <a:solidFill>
                <a:srgbClr val="FFFFFF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6"/>
          <p:cNvSpPr txBox="1"/>
          <p:nvPr/>
        </p:nvSpPr>
        <p:spPr>
          <a:xfrm>
            <a:off x="720000" y="180000"/>
            <a:ext cx="54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Detailed Results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4680000" y="360000"/>
            <a:ext cx="648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Evaluated Guidelines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720000" y="792000"/>
            <a:ext cx="54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285F4"/>
                </a:solidFill>
                <a:latin typeface="Google Sans"/>
                <a:ea typeface="Google Sans"/>
                <a:cs typeface="Google Sans"/>
                <a:sym typeface="Google Sans"/>
              </a:rPr>
              <a:t>Asset</a:t>
            </a:r>
            <a:r>
              <a:rPr lang="en-US" sz="1200">
                <a:solidFill>
                  <a:srgbClr val="4285F4"/>
                </a:solidFill>
                <a:latin typeface="Google Sans"/>
                <a:ea typeface="Google Sans"/>
                <a:cs typeface="Google Sans"/>
                <a:sym typeface="Google Sans"/>
              </a:rPr>
              <a:t> ASSET_NUMBER </a:t>
            </a:r>
            <a:r>
              <a:rPr b="0" i="0" lang="en-US" sz="1200" u="none" cap="none" strike="noStrike">
                <a:solidFill>
                  <a:srgbClr val="4285F4"/>
                </a:solidFill>
                <a:latin typeface="Google Sans"/>
                <a:ea typeface="Google Sans"/>
                <a:cs typeface="Google Sans"/>
                <a:sym typeface="Google Sans"/>
              </a:rPr>
              <a:t>of </a:t>
            </a:r>
            <a:r>
              <a:rPr lang="en-US" sz="1200">
                <a:solidFill>
                  <a:srgbClr val="4285F4"/>
                </a:solidFill>
                <a:latin typeface="Google Sans"/>
                <a:ea typeface="Google Sans"/>
                <a:cs typeface="Google Sans"/>
                <a:sym typeface="Google Sans"/>
              </a:rPr>
              <a:t>VIDEO_COUNT</a:t>
            </a:r>
            <a:endParaRPr/>
          </a:p>
        </p:txBody>
      </p:sp>
      <p:pic>
        <p:nvPicPr>
          <p:cNvPr descr="image.png" id="131" name="Google Shape;13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0" y="288000"/>
            <a:ext cx="1800002" cy="45891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HUMBNAIL" id="132" name="Google Shape;13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0000" y="1620000"/>
            <a:ext cx="3600000" cy="202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720000" y="4185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NAME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720000" y="4365000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Google Sans"/>
                <a:ea typeface="Google Sans"/>
                <a:cs typeface="Google Sans"/>
                <a:sym typeface="Google Sans"/>
              </a:rPr>
              <a:t>ASSET_NAME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720000" y="4797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LINK</a:t>
            </a:r>
            <a:endParaRPr/>
          </a:p>
        </p:txBody>
      </p:sp>
      <p:sp>
        <p:nvSpPr>
          <p:cNvPr descr="ASSET_LINK_PLACEHOLDER" id="136" name="Google Shape;136;p16"/>
          <p:cNvSpPr txBox="1"/>
          <p:nvPr/>
        </p:nvSpPr>
        <p:spPr>
          <a:xfrm>
            <a:off x="720000" y="4977000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Google Sans"/>
                <a:ea typeface="Google Sans"/>
                <a:cs typeface="Google Sans"/>
                <a:sym typeface="Google Sans"/>
              </a:rPr>
              <a:t>ASSET_LINK</a:t>
            </a:r>
            <a:endParaRPr sz="1200"/>
          </a:p>
        </p:txBody>
      </p:sp>
      <p:sp>
        <p:nvSpPr>
          <p:cNvPr id="137" name="Google Shape;137;p16"/>
          <p:cNvSpPr txBox="1"/>
          <p:nvPr/>
        </p:nvSpPr>
        <p:spPr>
          <a:xfrm>
            <a:off x="720000" y="5517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RESULT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720000" y="5697000"/>
            <a:ext cx="367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Google Sans"/>
                <a:ea typeface="Google Sans"/>
                <a:cs typeface="Google Sans"/>
                <a:sym typeface="Google Sans"/>
              </a:rPr>
              <a:t>ADHERENCE_PERC</a:t>
            </a:r>
            <a:r>
              <a:rPr b="0" lang="en-US" sz="12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Adherence</a:t>
            </a:r>
            <a:r>
              <a:rPr lang="en-US" sz="1200">
                <a:latin typeface="Google Sans"/>
                <a:ea typeface="Google Sans"/>
                <a:cs typeface="Google Sans"/>
                <a:sym typeface="Google Sans"/>
              </a:rPr>
              <a:t> </a:t>
            </a:r>
            <a:r>
              <a:rPr b="0" lang="en-US" sz="12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(ADHERENCE_X/</a:t>
            </a:r>
            <a:r>
              <a:rPr lang="en-US" sz="1200">
                <a:latin typeface="Google Sans"/>
                <a:ea typeface="Google Sans"/>
                <a:cs typeface="Google Sans"/>
                <a:sym typeface="Google Sans"/>
              </a:rPr>
              <a:t>ADHERENCE_Y</a:t>
            </a:r>
            <a:r>
              <a:rPr b="0" lang="en-US" sz="12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)</a:t>
            </a:r>
            <a:endParaRPr/>
          </a:p>
        </p:txBody>
      </p:sp>
      <p:sp>
        <p:nvSpPr>
          <p:cNvPr descr="ADHERENCE_CATEGORY" id="139" name="Google Shape;139;p16"/>
          <p:cNvSpPr/>
          <p:nvPr/>
        </p:nvSpPr>
        <p:spPr>
          <a:xfrm>
            <a:off x="2592000" y="5733000"/>
            <a:ext cx="1440000" cy="360000"/>
          </a:xfrm>
          <a:prstGeom prst="roundRect">
            <a:avLst>
              <a:gd fmla="val 30000" name="adj"/>
            </a:avLst>
          </a:prstGeom>
          <a:solidFill>
            <a:srgbClr val="00B05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ADHERENCE_CATEGORY</a:t>
            </a:r>
            <a:endParaRPr/>
          </a:p>
        </p:txBody>
      </p:sp>
      <p:pic>
        <p:nvPicPr>
          <p:cNvPr descr="image.png" id="140" name="Google Shape;14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0000" y="6300000"/>
            <a:ext cx="540000" cy="182647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1368000" y="6300000"/>
            <a:ext cx="28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&amp; Confidential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4680000" y="1537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Tight Framing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4680000" y="1690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(A) Human Voice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4" name="Google Shape;144;p16"/>
          <p:cNvSpPr txBox="1"/>
          <p:nvPr/>
        </p:nvSpPr>
        <p:spPr>
          <a:xfrm>
            <a:off x="4680000" y="1842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(A) Direct to Camera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4680000" y="1995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(A) Supers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6" name="Google Shape;146;p16"/>
          <p:cNvSpPr txBox="1"/>
          <p:nvPr/>
        </p:nvSpPr>
        <p:spPr>
          <a:xfrm>
            <a:off x="4680000" y="2147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(B) Close-ups (Product)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7" name="Google Shape;147;p16"/>
          <p:cNvSpPr txBox="1"/>
          <p:nvPr/>
        </p:nvSpPr>
        <p:spPr>
          <a:xfrm>
            <a:off x="4680000" y="2299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(B) Product Extreme close up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8" name="Google Shape;148;p16"/>
          <p:cNvSpPr txBox="1"/>
          <p:nvPr/>
        </p:nvSpPr>
        <p:spPr>
          <a:xfrm>
            <a:off x="4680000" y="2452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(C) People Using Product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49" name="Google Shape;149;p16"/>
          <p:cNvSpPr txBox="1"/>
          <p:nvPr/>
        </p:nvSpPr>
        <p:spPr>
          <a:xfrm>
            <a:off x="4680000" y="2604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(C) Casual Language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0" name="Google Shape;150;p16"/>
          <p:cNvSpPr txBox="1"/>
          <p:nvPr/>
        </p:nvSpPr>
        <p:spPr>
          <a:xfrm>
            <a:off x="4680000" y="2757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(C) Humor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4680000" y="2909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(C) Character-Driven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2" name="Google Shape;152;p16"/>
          <p:cNvSpPr txBox="1"/>
          <p:nvPr/>
        </p:nvSpPr>
        <p:spPr>
          <a:xfrm>
            <a:off x="4680000" y="3061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(D) Call to Action (Audio)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4680000" y="3214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</a:t>
            </a: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(D) Special Offer (Speech)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/>
        </p:nvSpPr>
        <p:spPr>
          <a:xfrm>
            <a:off x="720000" y="180000"/>
            <a:ext cx="54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Detailed Results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4680000" y="360000"/>
            <a:ext cx="648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Evaluated Guidelines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720000" y="792000"/>
            <a:ext cx="54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285F4"/>
                </a:solidFill>
                <a:latin typeface="Google Sans"/>
                <a:ea typeface="Google Sans"/>
                <a:cs typeface="Google Sans"/>
                <a:sym typeface="Google Sans"/>
              </a:rPr>
              <a:t>Asset</a:t>
            </a:r>
            <a:r>
              <a:rPr lang="en-US" sz="1200">
                <a:solidFill>
                  <a:srgbClr val="4285F4"/>
                </a:solidFill>
                <a:latin typeface="Google Sans"/>
                <a:ea typeface="Google Sans"/>
                <a:cs typeface="Google Sans"/>
                <a:sym typeface="Google Sans"/>
              </a:rPr>
              <a:t> ASSET_NUMBER </a:t>
            </a:r>
            <a:r>
              <a:rPr b="0" i="0" lang="en-US" sz="1200" u="none" cap="none" strike="noStrike">
                <a:solidFill>
                  <a:srgbClr val="4285F4"/>
                </a:solidFill>
                <a:latin typeface="Google Sans"/>
                <a:ea typeface="Google Sans"/>
                <a:cs typeface="Google Sans"/>
                <a:sym typeface="Google Sans"/>
              </a:rPr>
              <a:t>of </a:t>
            </a:r>
            <a:r>
              <a:rPr lang="en-US" sz="1200">
                <a:solidFill>
                  <a:srgbClr val="4285F4"/>
                </a:solidFill>
                <a:latin typeface="Google Sans"/>
                <a:ea typeface="Google Sans"/>
                <a:cs typeface="Google Sans"/>
                <a:sym typeface="Google Sans"/>
              </a:rPr>
              <a:t>VIDEO_COUNT</a:t>
            </a:r>
            <a:endParaRPr/>
          </a:p>
        </p:txBody>
      </p:sp>
      <p:pic>
        <p:nvPicPr>
          <p:cNvPr descr="image.png" id="161" name="Google Shape;16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0" y="288000"/>
            <a:ext cx="1800002" cy="45891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HUMBNAIL" id="162" name="Google Shape;162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0000" y="1620000"/>
            <a:ext cx="3600000" cy="202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 txBox="1"/>
          <p:nvPr/>
        </p:nvSpPr>
        <p:spPr>
          <a:xfrm>
            <a:off x="720000" y="4185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NAME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720000" y="4365000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Google Sans"/>
                <a:ea typeface="Google Sans"/>
                <a:cs typeface="Google Sans"/>
                <a:sym typeface="Google Sans"/>
              </a:rPr>
              <a:t>ASSET_NAME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720000" y="4797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LINK</a:t>
            </a:r>
            <a:endParaRPr/>
          </a:p>
        </p:txBody>
      </p:sp>
      <p:sp>
        <p:nvSpPr>
          <p:cNvPr descr="ASSET_LINK_PLACEHOLDER" id="166" name="Google Shape;166;p17"/>
          <p:cNvSpPr txBox="1"/>
          <p:nvPr/>
        </p:nvSpPr>
        <p:spPr>
          <a:xfrm>
            <a:off x="720000" y="4977000"/>
            <a:ext cx="36000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Google Sans"/>
                <a:ea typeface="Google Sans"/>
                <a:cs typeface="Google Sans"/>
                <a:sym typeface="Google Sans"/>
              </a:rPr>
              <a:t>ASSET_LINK</a:t>
            </a:r>
            <a:endParaRPr sz="1200"/>
          </a:p>
        </p:txBody>
      </p:sp>
      <p:sp>
        <p:nvSpPr>
          <p:cNvPr id="167" name="Google Shape;167;p17"/>
          <p:cNvSpPr txBox="1"/>
          <p:nvPr/>
        </p:nvSpPr>
        <p:spPr>
          <a:xfrm>
            <a:off x="720000" y="5517000"/>
            <a:ext cx="3600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ASSET RESULT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720000" y="5697000"/>
            <a:ext cx="367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Google Sans"/>
                <a:ea typeface="Google Sans"/>
                <a:cs typeface="Google Sans"/>
                <a:sym typeface="Google Sans"/>
              </a:rPr>
              <a:t>ADHERENCE_PERC</a:t>
            </a:r>
            <a:r>
              <a:rPr b="0" lang="en-US" sz="12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Adherence</a:t>
            </a:r>
            <a:r>
              <a:rPr lang="en-US" sz="1200">
                <a:latin typeface="Google Sans"/>
                <a:ea typeface="Google Sans"/>
                <a:cs typeface="Google Sans"/>
                <a:sym typeface="Google Sans"/>
              </a:rPr>
              <a:t> </a:t>
            </a:r>
            <a:r>
              <a:rPr b="0" lang="en-US" sz="12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(ADHERENCE_X/</a:t>
            </a:r>
            <a:r>
              <a:rPr lang="en-US" sz="1200">
                <a:latin typeface="Google Sans"/>
                <a:ea typeface="Google Sans"/>
                <a:cs typeface="Google Sans"/>
                <a:sym typeface="Google Sans"/>
              </a:rPr>
              <a:t>ADHERENCE_Y</a:t>
            </a:r>
            <a:r>
              <a:rPr b="0" lang="en-US" sz="12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)</a:t>
            </a:r>
            <a:endParaRPr/>
          </a:p>
        </p:txBody>
      </p:sp>
      <p:sp>
        <p:nvSpPr>
          <p:cNvPr descr="ADHERENCE_CATEGORY" id="169" name="Google Shape;169;p17"/>
          <p:cNvSpPr/>
          <p:nvPr/>
        </p:nvSpPr>
        <p:spPr>
          <a:xfrm>
            <a:off x="2592000" y="5733000"/>
            <a:ext cx="1440000" cy="360000"/>
          </a:xfrm>
          <a:prstGeom prst="roundRect">
            <a:avLst>
              <a:gd fmla="val 30000" name="adj"/>
            </a:avLst>
          </a:prstGeom>
          <a:solidFill>
            <a:srgbClr val="00B05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lt1"/>
                </a:solidFill>
                <a:latin typeface="Google Sans"/>
                <a:ea typeface="Google Sans"/>
                <a:cs typeface="Google Sans"/>
                <a:sym typeface="Google Sans"/>
              </a:rPr>
              <a:t>ADHERENCE_CATEGORY</a:t>
            </a:r>
            <a:endParaRPr/>
          </a:p>
        </p:txBody>
      </p:sp>
      <p:pic>
        <p:nvPicPr>
          <p:cNvPr descr="image.png" id="170" name="Google Shape;170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0000" y="6300000"/>
            <a:ext cx="540000" cy="18264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7"/>
          <p:cNvSpPr txBox="1"/>
          <p:nvPr/>
        </p:nvSpPr>
        <p:spPr>
          <a:xfrm>
            <a:off x="1368000" y="6300000"/>
            <a:ext cx="28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808080"/>
                </a:solidFill>
                <a:latin typeface="Google Sans"/>
                <a:ea typeface="Google Sans"/>
                <a:cs typeface="Google Sans"/>
                <a:sym typeface="Google Sans"/>
              </a:rPr>
              <a:t>Proprietary &amp; Confidential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4680000" y="1537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Starting Strong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7271999" y="15403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Visual (3+ Times)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9864000" y="1537906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Product Context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9864000" y="16927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Clear Messaging</a:t>
            </a:r>
            <a:endParaRPr sz="900">
              <a:solidFill>
                <a:srgbClr val="0F9D58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6" name="Google Shape;176;p17"/>
          <p:cNvSpPr txBox="1"/>
          <p:nvPr/>
        </p:nvSpPr>
        <p:spPr>
          <a:xfrm>
            <a:off x="9864000" y="18451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Single Message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9864000" y="19975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Casual Language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9864000" y="21499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Expression of Benefit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9864000" y="23023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Competitive Claim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0" name="Google Shape;180;p17"/>
          <p:cNvSpPr txBox="1"/>
          <p:nvPr/>
        </p:nvSpPr>
        <p:spPr>
          <a:xfrm>
            <a:off x="9864000" y="24547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(C) Visualization of Benefit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1" name="Google Shape;181;p17"/>
          <p:cNvSpPr txBox="1"/>
          <p:nvPr/>
        </p:nvSpPr>
        <p:spPr>
          <a:xfrm>
            <a:off x="9864000" y="26071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Emotions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2" name="Google Shape;182;p17"/>
          <p:cNvSpPr txBox="1"/>
          <p:nvPr/>
        </p:nvSpPr>
        <p:spPr>
          <a:xfrm>
            <a:off x="9864000" y="27595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Humor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9864000" y="29119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Delight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4" name="Google Shape;184;p17"/>
          <p:cNvSpPr txBox="1"/>
          <p:nvPr/>
        </p:nvSpPr>
        <p:spPr>
          <a:xfrm>
            <a:off x="9864000" y="30643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(D) Call-to-Action (Text)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5" name="Google Shape;185;p17"/>
          <p:cNvSpPr txBox="1"/>
          <p:nvPr/>
        </p:nvSpPr>
        <p:spPr>
          <a:xfrm>
            <a:off x="9864000" y="32167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Call-to-Action (Speech)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6" name="Google Shape;186;p17"/>
          <p:cNvSpPr txBox="1"/>
          <p:nvPr/>
        </p:nvSpPr>
        <p:spPr>
          <a:xfrm>
            <a:off x="9864000" y="33691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(D) Relevant Call-to-Action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9864000" y="3521543"/>
            <a:ext cx="23400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Purchase Incentive (Limited Time/Quantities)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9864000" y="38263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Special Offer (Text)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89" name="Google Shape;189;p17"/>
          <p:cNvSpPr txBox="1"/>
          <p:nvPr/>
        </p:nvSpPr>
        <p:spPr>
          <a:xfrm>
            <a:off x="9864000" y="39787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Special Offer (Speech)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0" name="Google Shape;190;p17"/>
          <p:cNvSpPr txBox="1"/>
          <p:nvPr/>
        </p:nvSpPr>
        <p:spPr>
          <a:xfrm>
            <a:off x="9864000" y="41311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(D) Price (Text)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1" name="Google Shape;191;p17"/>
          <p:cNvSpPr txBox="1"/>
          <p:nvPr/>
        </p:nvSpPr>
        <p:spPr>
          <a:xfrm>
            <a:off x="9864000" y="42835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Price (Speech)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2" name="Google Shape;192;p17"/>
          <p:cNvSpPr txBox="1"/>
          <p:nvPr/>
        </p:nvSpPr>
        <p:spPr>
          <a:xfrm>
            <a:off x="9864000" y="44359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Power of Free (Text)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3" name="Google Shape;193;p17"/>
          <p:cNvSpPr txBox="1"/>
          <p:nvPr/>
        </p:nvSpPr>
        <p:spPr>
          <a:xfrm>
            <a:off x="9864000" y="45883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Power of Free (Speech)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4" name="Google Shape;194;p17"/>
          <p:cNvSpPr txBox="1"/>
          <p:nvPr/>
        </p:nvSpPr>
        <p:spPr>
          <a:xfrm>
            <a:off x="9864000" y="47407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(D) Path to Purchase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5" name="Google Shape;195;p17"/>
          <p:cNvSpPr txBox="1"/>
          <p:nvPr/>
        </p:nvSpPr>
        <p:spPr>
          <a:xfrm>
            <a:off x="9864000" y="4893143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(D) Search Bar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6" name="Google Shape;196;p17"/>
          <p:cNvSpPr txBox="1"/>
          <p:nvPr/>
        </p:nvSpPr>
        <p:spPr>
          <a:xfrm>
            <a:off x="7271999" y="16927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Logo (Large)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7" name="Google Shape;197;p17"/>
          <p:cNvSpPr txBox="1"/>
          <p:nvPr/>
        </p:nvSpPr>
        <p:spPr>
          <a:xfrm>
            <a:off x="7271999" y="18451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Mention (Speech)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8" name="Google Shape;198;p17"/>
          <p:cNvSpPr txBox="1"/>
          <p:nvPr/>
        </p:nvSpPr>
        <p:spPr>
          <a:xfrm>
            <a:off x="7271999" y="19975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Mention (Speech) (See &amp; Say)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99" name="Google Shape;199;p17"/>
          <p:cNvSpPr txBox="1"/>
          <p:nvPr/>
        </p:nvSpPr>
        <p:spPr>
          <a:xfrm>
            <a:off x="7271999" y="21499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Mention (Speech) (Last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0" name="Google Shape;200;p17"/>
          <p:cNvSpPr txBox="1"/>
          <p:nvPr/>
        </p:nvSpPr>
        <p:spPr>
          <a:xfrm>
            <a:off x="7271999" y="23023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Mention (Speech) (First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1" name="Google Shape;201;p17"/>
          <p:cNvSpPr txBox="1"/>
          <p:nvPr/>
        </p:nvSpPr>
        <p:spPr>
          <a:xfrm>
            <a:off x="7271999" y="2454734"/>
            <a:ext cx="2340000" cy="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Mention (Speech) (See &amp; Say) (First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2" name="Google Shape;202;p17"/>
          <p:cNvSpPr txBox="1"/>
          <p:nvPr/>
        </p:nvSpPr>
        <p:spPr>
          <a:xfrm>
            <a:off x="7271999" y="27595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Mnemonic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3" name="Google Shape;203;p17"/>
          <p:cNvSpPr txBox="1"/>
          <p:nvPr/>
        </p:nvSpPr>
        <p:spPr>
          <a:xfrm>
            <a:off x="7271999" y="29119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Multiple Brand Elements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4" name="Google Shape;204;p17"/>
          <p:cNvSpPr txBox="1"/>
          <p:nvPr/>
        </p:nvSpPr>
        <p:spPr>
          <a:xfrm>
            <a:off x="7271999" y="30643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Visual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5" name="Google Shape;205;p17"/>
          <p:cNvSpPr txBox="1"/>
          <p:nvPr/>
        </p:nvSpPr>
        <p:spPr>
          <a:xfrm>
            <a:off x="7271999" y="32167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Visual (First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6" name="Google Shape;206;p17"/>
          <p:cNvSpPr txBox="1"/>
          <p:nvPr/>
        </p:nvSpPr>
        <p:spPr>
          <a:xfrm>
            <a:off x="7271999" y="33691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Visual (Last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7" name="Google Shape;207;p17"/>
          <p:cNvSpPr txBox="1"/>
          <p:nvPr/>
        </p:nvSpPr>
        <p:spPr>
          <a:xfrm>
            <a:off x="7271999" y="35215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Product Visual (Close-up)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8" name="Google Shape;208;p17"/>
          <p:cNvSpPr txBox="1"/>
          <p:nvPr/>
        </p:nvSpPr>
        <p:spPr>
          <a:xfrm>
            <a:off x="7271999" y="36739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Product Visual (Extreme Close-up)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09" name="Google Shape;209;p17"/>
          <p:cNvSpPr txBox="1"/>
          <p:nvPr/>
        </p:nvSpPr>
        <p:spPr>
          <a:xfrm>
            <a:off x="7271999" y="382633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Mention (Speech or Text)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0" name="Google Shape;210;p17"/>
          <p:cNvSpPr txBox="1"/>
          <p:nvPr/>
        </p:nvSpPr>
        <p:spPr>
          <a:xfrm>
            <a:off x="7271999" y="39857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Product Mention (Speech)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1" name="Google Shape;211;p17"/>
          <p:cNvSpPr txBox="1"/>
          <p:nvPr/>
        </p:nvSpPr>
        <p:spPr>
          <a:xfrm>
            <a:off x="7271999" y="41381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Product Mention (Speech) (First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2" name="Google Shape;212;p17"/>
          <p:cNvSpPr txBox="1"/>
          <p:nvPr/>
        </p:nvSpPr>
        <p:spPr>
          <a:xfrm>
            <a:off x="7271999" y="42905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Product Mention (Speech) (Last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3" name="Google Shape;213;p17"/>
          <p:cNvSpPr txBox="1"/>
          <p:nvPr/>
        </p:nvSpPr>
        <p:spPr>
          <a:xfrm>
            <a:off x="7271999" y="44429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Mention (Text)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4" name="Google Shape;214;p17"/>
          <p:cNvSpPr txBox="1"/>
          <p:nvPr/>
        </p:nvSpPr>
        <p:spPr>
          <a:xfrm>
            <a:off x="7271999" y="45953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Product Focus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5" name="Google Shape;215;p17"/>
          <p:cNvSpPr txBox="1"/>
          <p:nvPr/>
        </p:nvSpPr>
        <p:spPr>
          <a:xfrm>
            <a:off x="7271999" y="47477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Presence of People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6" name="Google Shape;216;p17"/>
          <p:cNvSpPr txBox="1"/>
          <p:nvPr/>
        </p:nvSpPr>
        <p:spPr>
          <a:xfrm>
            <a:off x="7271999" y="49001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Presence of People (First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7" name="Google Shape;217;p17"/>
          <p:cNvSpPr txBox="1"/>
          <p:nvPr/>
        </p:nvSpPr>
        <p:spPr>
          <a:xfrm>
            <a:off x="7271999" y="50525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Presence of People (Close-up)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8" name="Google Shape;218;p17"/>
          <p:cNvSpPr txBox="1"/>
          <p:nvPr/>
        </p:nvSpPr>
        <p:spPr>
          <a:xfrm>
            <a:off x="7271999" y="52049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Visible Face (First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19" name="Google Shape;219;p17"/>
          <p:cNvSpPr txBox="1"/>
          <p:nvPr/>
        </p:nvSpPr>
        <p:spPr>
          <a:xfrm>
            <a:off x="7271999" y="5357384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(C) Product Interaction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0" name="Google Shape;220;p17"/>
          <p:cNvSpPr txBox="1"/>
          <p:nvPr/>
        </p:nvSpPr>
        <p:spPr>
          <a:xfrm>
            <a:off x="4680000" y="1690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Quick Pacing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1" name="Google Shape;221;p17"/>
          <p:cNvSpPr txBox="1"/>
          <p:nvPr/>
        </p:nvSpPr>
        <p:spPr>
          <a:xfrm>
            <a:off x="4680000" y="1842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Quick Pacing (First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2" name="Google Shape;222;p17"/>
          <p:cNvSpPr txBox="1"/>
          <p:nvPr/>
        </p:nvSpPr>
        <p:spPr>
          <a:xfrm>
            <a:off x="4680000" y="1995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Tight Framing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3" name="Google Shape;223;p17"/>
          <p:cNvSpPr txBox="1"/>
          <p:nvPr/>
        </p:nvSpPr>
        <p:spPr>
          <a:xfrm>
            <a:off x="4680000" y="2147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Tight Framing (First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4" name="Google Shape;224;p17"/>
          <p:cNvSpPr txBox="1"/>
          <p:nvPr/>
        </p:nvSpPr>
        <p:spPr>
          <a:xfrm>
            <a:off x="4680000" y="2299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Sound On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5" name="Google Shape;225;p17"/>
          <p:cNvSpPr txBox="1"/>
          <p:nvPr/>
        </p:nvSpPr>
        <p:spPr>
          <a:xfrm>
            <a:off x="4680000" y="2452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Music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6" name="Google Shape;226;p17"/>
          <p:cNvSpPr txBox="1"/>
          <p:nvPr/>
        </p:nvSpPr>
        <p:spPr>
          <a:xfrm>
            <a:off x="4680000" y="2604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Sound Effects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7" name="Google Shape;227;p17"/>
          <p:cNvSpPr txBox="1"/>
          <p:nvPr/>
        </p:nvSpPr>
        <p:spPr>
          <a:xfrm>
            <a:off x="4680000" y="2757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Voice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8" name="Google Shape;228;p17"/>
          <p:cNvSpPr txBox="1"/>
          <p:nvPr/>
        </p:nvSpPr>
        <p:spPr>
          <a:xfrm>
            <a:off x="4680000" y="2909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Voice-Over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29" name="Google Shape;229;p17"/>
          <p:cNvSpPr txBox="1"/>
          <p:nvPr/>
        </p:nvSpPr>
        <p:spPr>
          <a:xfrm>
            <a:off x="4680000" y="3061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Dialogue (1-Person)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0" name="Google Shape;230;p17"/>
          <p:cNvSpPr txBox="1"/>
          <p:nvPr/>
        </p:nvSpPr>
        <p:spPr>
          <a:xfrm>
            <a:off x="4680000" y="3214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Dialogue (2+ People)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1" name="Google Shape;231;p17"/>
          <p:cNvSpPr txBox="1"/>
          <p:nvPr/>
        </p:nvSpPr>
        <p:spPr>
          <a:xfrm>
            <a:off x="4680000" y="3366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Direct to Camera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2" name="Google Shape;232;p17"/>
          <p:cNvSpPr txBox="1"/>
          <p:nvPr/>
        </p:nvSpPr>
        <p:spPr>
          <a:xfrm>
            <a:off x="4680000" y="3519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(A) Supers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3" name="Google Shape;233;p17"/>
          <p:cNvSpPr txBox="1"/>
          <p:nvPr/>
        </p:nvSpPr>
        <p:spPr>
          <a:xfrm>
            <a:off x="4680000" y="3671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Supers with Audio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4" name="Google Shape;234;p17"/>
          <p:cNvSpPr txBox="1"/>
          <p:nvPr/>
        </p:nvSpPr>
        <p:spPr>
          <a:xfrm>
            <a:off x="4680000" y="3823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Supers with Audio (Augmented)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5" name="Google Shape;235;p17"/>
          <p:cNvSpPr txBox="1"/>
          <p:nvPr/>
        </p:nvSpPr>
        <p:spPr>
          <a:xfrm>
            <a:off x="4680000" y="3976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Supers with Audio (See &amp; Say)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6" name="Google Shape;236;p17"/>
          <p:cNvSpPr txBox="1"/>
          <p:nvPr/>
        </p:nvSpPr>
        <p:spPr>
          <a:xfrm>
            <a:off x="4680000" y="4128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Large Supers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7" name="Google Shape;237;p17"/>
          <p:cNvSpPr txBox="1"/>
          <p:nvPr/>
        </p:nvSpPr>
        <p:spPr>
          <a:xfrm>
            <a:off x="4680000" y="4281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Bright Visuals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8" name="Google Shape;238;p17"/>
          <p:cNvSpPr txBox="1"/>
          <p:nvPr/>
        </p:nvSpPr>
        <p:spPr>
          <a:xfrm>
            <a:off x="4680000" y="4433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(A) High Contrast Visuals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39" name="Google Shape;239;p17"/>
          <p:cNvSpPr txBox="1"/>
          <p:nvPr/>
        </p:nvSpPr>
        <p:spPr>
          <a:xfrm>
            <a:off x="4680000" y="45859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Visual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0" name="Google Shape;240;p17"/>
          <p:cNvSpPr txBox="1"/>
          <p:nvPr/>
        </p:nvSpPr>
        <p:spPr>
          <a:xfrm>
            <a:off x="4680000" y="47383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Visual (First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1" name="Google Shape;241;p17"/>
          <p:cNvSpPr txBox="1"/>
          <p:nvPr/>
        </p:nvSpPr>
        <p:spPr>
          <a:xfrm>
            <a:off x="4680000" y="48907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Visual (Last 5s)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2" name="Google Shape;242;p17"/>
          <p:cNvSpPr txBox="1"/>
          <p:nvPr/>
        </p:nvSpPr>
        <p:spPr>
          <a:xfrm>
            <a:off x="4680000" y="50431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● (B) Brand Visual (Overlaid)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243" name="Google Shape;243;p17"/>
          <p:cNvSpPr txBox="1"/>
          <p:nvPr/>
        </p:nvSpPr>
        <p:spPr>
          <a:xfrm>
            <a:off x="4680000" y="5195509"/>
            <a:ext cx="2340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757575"/>
                </a:solidFill>
                <a:latin typeface="Google Sans"/>
                <a:ea typeface="Google Sans"/>
                <a:cs typeface="Google Sans"/>
                <a:sym typeface="Google Sans"/>
              </a:rPr>
              <a:t>○ (B) Brand Visual (In-situation)</a:t>
            </a:r>
            <a:endParaRPr sz="900">
              <a:solidFill>
                <a:srgbClr val="757575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8"/>
          <p:cNvSpPr txBox="1"/>
          <p:nvPr/>
        </p:nvSpPr>
        <p:spPr>
          <a:xfrm>
            <a:off x="540000" y="360000"/>
            <a:ext cx="7200000" cy="5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Missing Features Analysis</a:t>
            </a:r>
            <a:endParaRPr/>
          </a:p>
        </p:txBody>
      </p:sp>
      <p:sp>
        <p:nvSpPr>
          <p:cNvPr id="249" name="Google Shape;249;p18"/>
          <p:cNvSpPr txBox="1"/>
          <p:nvPr/>
        </p:nvSpPr>
        <p:spPr>
          <a:xfrm>
            <a:off x="540000" y="900000"/>
            <a:ext cx="10800000" cy="28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Features That Should Be Present But Weren't Detected</a:t>
            </a:r>
            <a:endParaRPr/>
          </a:p>
        </p:txBody>
      </p:sp>
      <p:sp>
        <p:nvSpPr>
          <p:cNvPr id="250" name="Google Shape;250;p18"/>
          <p:cNvSpPr txBox="1"/>
          <p:nvPr/>
        </p:nvSpPr>
        <p:spPr>
          <a:xfrm>
            <a:off x="540000" y="1260000"/>
            <a:ext cx="10800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Google Sans"/>
                <a:ea typeface="Google Sans"/>
                <a:cs typeface="Google Sans"/>
                <a:sym typeface="Google Sans"/>
              </a:rPr>
              <a:t>Asset ASSET_NUMBER of VIDEO_COUNT: ASSET_NAME</a:t>
            </a:r>
            <a:endParaRPr/>
          </a:p>
        </p:txBody>
      </p:sp>
      <p:sp>
        <p:nvSpPr>
          <p:cNvPr id="251" name="Google Shape;251;p18"/>
          <p:cNvSpPr txBox="1"/>
          <p:nvPr/>
        </p:nvSpPr>
        <p:spPr>
          <a:xfrm>
            <a:off x="540000" y="1800000"/>
            <a:ext cx="108000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9AB00"/>
                </a:solidFill>
                <a:latin typeface="Google Sans"/>
                <a:ea typeface="Google Sans"/>
                <a:cs typeface="Google Sans"/>
                <a:sym typeface="Google Sans"/>
              </a:rPr>
              <a:t>⚠️  </a:t>
            </a:r>
            <a:r>
              <a:rPr b="1" lang="en-US" sz="1100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Total Missing Features Found MISSING_FEATURES_COUNT</a:t>
            </a:r>
            <a:br>
              <a:rPr b="1" lang="en-US" sz="1100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</a:br>
            <a:r>
              <a:rPr b="0" lang="en-US" sz="11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Objective: </a:t>
            </a:r>
            <a:r>
              <a:rPr lang="en-US" sz="1100">
                <a:latin typeface="Google Sans"/>
                <a:ea typeface="Google Sans"/>
                <a:cs typeface="Google Sans"/>
                <a:sym typeface="Google Sans"/>
              </a:rPr>
              <a:t>MARKETING_OBJECTIVE</a:t>
            </a:r>
            <a:r>
              <a:rPr b="0" lang="en-US" sz="11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| Score: </a:t>
            </a:r>
            <a:r>
              <a:rPr lang="en-US" sz="1100">
                <a:latin typeface="Google Sans"/>
                <a:ea typeface="Google Sans"/>
                <a:cs typeface="Google Sans"/>
                <a:sym typeface="Google Sans"/>
              </a:rPr>
              <a:t>ADHERENCE_PERC</a:t>
            </a:r>
            <a:r>
              <a:rPr b="0" lang="en-US" sz="1100">
                <a:solidFill>
                  <a:srgbClr val="000000"/>
                </a:solidFill>
                <a:latin typeface="Google Sans"/>
                <a:ea typeface="Google Sans"/>
                <a:cs typeface="Google Sans"/>
                <a:sym typeface="Google Sans"/>
              </a:rPr>
              <a:t> | Status: </a:t>
            </a:r>
            <a:r>
              <a:rPr lang="en-US" sz="1100">
                <a:latin typeface="Google Sans"/>
                <a:ea typeface="Google Sans"/>
                <a:cs typeface="Google Sans"/>
                <a:sym typeface="Google Sans"/>
              </a:rPr>
              <a:t>ADHERENCE_CATEGORY</a:t>
            </a:r>
            <a:endParaRPr/>
          </a:p>
        </p:txBody>
      </p:sp>
      <p:sp>
        <p:nvSpPr>
          <p:cNvPr descr="MISSING_FEATURE_1" id="252" name="Google Shape;252;p18"/>
          <p:cNvSpPr txBox="1"/>
          <p:nvPr/>
        </p:nvSpPr>
        <p:spPr>
          <a:xfrm>
            <a:off x="720000" y="2340000"/>
            <a:ext cx="10080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• MISSING_FEATURE_1</a:t>
            </a:r>
            <a:endParaRPr/>
          </a:p>
        </p:txBody>
      </p:sp>
      <p:sp>
        <p:nvSpPr>
          <p:cNvPr descr="RECOM_1" id="253" name="Google Shape;253;p18"/>
          <p:cNvSpPr txBox="1"/>
          <p:nvPr/>
        </p:nvSpPr>
        <p:spPr>
          <a:xfrm>
            <a:off x="1007999" y="2556000"/>
            <a:ext cx="100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→ </a:t>
            </a:r>
            <a:r>
              <a:rPr lang="en-US" sz="10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RECOM_1</a:t>
            </a:r>
            <a:endParaRPr/>
          </a:p>
        </p:txBody>
      </p:sp>
      <p:sp>
        <p:nvSpPr>
          <p:cNvPr descr="MISSING_FEATURE_2" id="254" name="Google Shape;254;p18"/>
          <p:cNvSpPr txBox="1"/>
          <p:nvPr/>
        </p:nvSpPr>
        <p:spPr>
          <a:xfrm>
            <a:off x="720000" y="3276000"/>
            <a:ext cx="10080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• MISSING_FEATURE_2</a:t>
            </a:r>
            <a:endParaRPr/>
          </a:p>
        </p:txBody>
      </p:sp>
      <p:sp>
        <p:nvSpPr>
          <p:cNvPr descr="RECOM_2" id="255" name="Google Shape;255;p18"/>
          <p:cNvSpPr txBox="1"/>
          <p:nvPr/>
        </p:nvSpPr>
        <p:spPr>
          <a:xfrm>
            <a:off x="1007999" y="3492000"/>
            <a:ext cx="100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→ </a:t>
            </a:r>
            <a:r>
              <a:rPr lang="en-US" sz="10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RECOM_2</a:t>
            </a:r>
            <a:endParaRPr/>
          </a:p>
        </p:txBody>
      </p:sp>
      <p:sp>
        <p:nvSpPr>
          <p:cNvPr descr="MISSING_FEATURE_3" id="256" name="Google Shape;256;p18"/>
          <p:cNvSpPr txBox="1"/>
          <p:nvPr/>
        </p:nvSpPr>
        <p:spPr>
          <a:xfrm>
            <a:off x="720000" y="4212000"/>
            <a:ext cx="10080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• </a:t>
            </a:r>
            <a:r>
              <a:rPr b="1" lang="en-US" sz="1100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MISSING_FEATURE_3</a:t>
            </a:r>
            <a:endParaRPr/>
          </a:p>
        </p:txBody>
      </p:sp>
      <p:sp>
        <p:nvSpPr>
          <p:cNvPr descr="RECOM_3" id="257" name="Google Shape;257;p18"/>
          <p:cNvSpPr txBox="1"/>
          <p:nvPr/>
        </p:nvSpPr>
        <p:spPr>
          <a:xfrm>
            <a:off x="1007999" y="4428000"/>
            <a:ext cx="100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→ </a:t>
            </a:r>
            <a:r>
              <a:rPr lang="en-US" sz="10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RECOM_3</a:t>
            </a:r>
            <a:endParaRPr/>
          </a:p>
        </p:txBody>
      </p:sp>
      <p:sp>
        <p:nvSpPr>
          <p:cNvPr descr="MISSING_FEATURE_4" id="258" name="Google Shape;258;p18"/>
          <p:cNvSpPr txBox="1"/>
          <p:nvPr/>
        </p:nvSpPr>
        <p:spPr>
          <a:xfrm>
            <a:off x="720000" y="5148000"/>
            <a:ext cx="10080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• </a:t>
            </a:r>
            <a:r>
              <a:rPr b="1" lang="en-US" sz="1100">
                <a:solidFill>
                  <a:srgbClr val="DB4437"/>
                </a:solidFill>
                <a:latin typeface="Google Sans"/>
                <a:ea typeface="Google Sans"/>
                <a:cs typeface="Google Sans"/>
                <a:sym typeface="Google Sans"/>
              </a:rPr>
              <a:t>MISSING_FEATURE_4</a:t>
            </a:r>
            <a:endParaRPr/>
          </a:p>
        </p:txBody>
      </p:sp>
      <p:sp>
        <p:nvSpPr>
          <p:cNvPr descr="RECOM_4" id="259" name="Google Shape;259;p18"/>
          <p:cNvSpPr txBox="1"/>
          <p:nvPr/>
        </p:nvSpPr>
        <p:spPr>
          <a:xfrm>
            <a:off x="1007999" y="5364000"/>
            <a:ext cx="10080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→ </a:t>
            </a:r>
            <a:r>
              <a:rPr lang="en-US" sz="1000">
                <a:solidFill>
                  <a:srgbClr val="4D4D4D"/>
                </a:solidFill>
                <a:latin typeface="Google Sans"/>
                <a:ea typeface="Google Sans"/>
                <a:cs typeface="Google Sans"/>
                <a:sym typeface="Google Sans"/>
              </a:rPr>
              <a:t>RECOM_4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19" title="Screenshot 2026-04-10 at 10.50.3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288" y="152400"/>
            <a:ext cx="11687516" cy="6553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20" title="Screenshot 2026-04-10 at 10.51.39 PM.png"/>
          <p:cNvPicPr preferRelativeResize="0"/>
          <p:nvPr/>
        </p:nvPicPr>
        <p:blipFill rotWithShape="1">
          <a:blip r:embed="rId3">
            <a:alphaModFix/>
          </a:blip>
          <a:srcRect b="0" l="0" r="596" t="0"/>
          <a:stretch/>
        </p:blipFill>
        <p:spPr>
          <a:xfrm>
            <a:off x="292875" y="152400"/>
            <a:ext cx="11606352" cy="655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